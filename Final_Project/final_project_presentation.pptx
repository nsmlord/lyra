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5"/>
    <p:sldMasterId id="214748369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5143500" cx="9144000"/>
  <p:notesSz cx="6858000" cy="9144000"/>
  <p:embeddedFontLst>
    <p:embeddedFont>
      <p:font typeface="DM Sans Medium"/>
      <p:regular r:id="rId36"/>
      <p:bold r:id="rId37"/>
      <p:italic r:id="rId38"/>
      <p:boldItalic r:id="rId39"/>
    </p:embeddedFont>
    <p:embeddedFont>
      <p:font typeface="Montserrat"/>
      <p:regular r:id="rId40"/>
      <p:bold r:id="rId41"/>
      <p:italic r:id="rId42"/>
      <p:boldItalic r:id="rId43"/>
    </p:embeddedFont>
    <p:embeddedFont>
      <p:font typeface="Lato"/>
      <p:regular r:id="rId44"/>
      <p:bold r:id="rId45"/>
      <p:italic r:id="rId46"/>
      <p:boldItalic r:id="rId47"/>
    </p:embeddedFont>
    <p:embeddedFont>
      <p:font typeface="Merriweather"/>
      <p:regular r:id="rId48"/>
      <p:bold r:id="rId49"/>
      <p:italic r:id="rId50"/>
      <p:boldItalic r:id="rId51"/>
    </p:embeddedFont>
    <p:embeddedFont>
      <p:font typeface="DM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852D4B-515E-4A19-A4DC-E09BEA7C7F29}">
  <a:tblStyle styleId="{08852D4B-515E-4A19-A4DC-E09BEA7C7F2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Lato-regular.fntdata"/><Relationship Id="rId43" Type="http://schemas.openxmlformats.org/officeDocument/2006/relationships/font" Target="fonts/Montserrat-boldItalic.fntdata"/><Relationship Id="rId46" Type="http://schemas.openxmlformats.org/officeDocument/2006/relationships/font" Target="fonts/Lato-italic.fntdata"/><Relationship Id="rId45"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Merriweather-regular.fntdata"/><Relationship Id="rId47" Type="http://schemas.openxmlformats.org/officeDocument/2006/relationships/font" Target="fonts/Lato-boldItalic.fntdata"/><Relationship Id="rId49" Type="http://schemas.openxmlformats.org/officeDocument/2006/relationships/font" Target="fonts/Merriweather-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font" Target="fonts/DMSansMedium-bold.fntdata"/><Relationship Id="rId36" Type="http://schemas.openxmlformats.org/officeDocument/2006/relationships/font" Target="fonts/DMSansMedium-regular.fntdata"/><Relationship Id="rId39" Type="http://schemas.openxmlformats.org/officeDocument/2006/relationships/font" Target="fonts/DMSansMedium-boldItalic.fntdata"/><Relationship Id="rId38" Type="http://schemas.openxmlformats.org/officeDocument/2006/relationships/font" Target="fonts/DMSansMedium-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erriweather-boldItalic.fntdata"/><Relationship Id="rId50" Type="http://schemas.openxmlformats.org/officeDocument/2006/relationships/font" Target="fonts/Merriweather-italic.fntdata"/><Relationship Id="rId53" Type="http://schemas.openxmlformats.org/officeDocument/2006/relationships/font" Target="fonts/DMSans-bold.fntdata"/><Relationship Id="rId52" Type="http://schemas.openxmlformats.org/officeDocument/2006/relationships/font" Target="fonts/DMSans-regular.fntdata"/><Relationship Id="rId11" Type="http://schemas.openxmlformats.org/officeDocument/2006/relationships/slide" Target="slides/slide4.xml"/><Relationship Id="rId55" Type="http://schemas.openxmlformats.org/officeDocument/2006/relationships/font" Target="fonts/DMSans-boldItalic.fntdata"/><Relationship Id="rId10" Type="http://schemas.openxmlformats.org/officeDocument/2006/relationships/slide" Target="slides/slide3.xml"/><Relationship Id="rId54" Type="http://schemas.openxmlformats.org/officeDocument/2006/relationships/font" Target="fonts/DMSans-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86fb44ef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d86fb44ef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86fb44ef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86fb44ef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86fb44ef6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86fb44ef6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a8848c19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9a8848c19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dbd5a7444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dbd5a7444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The Core Difference: Torque Transparency</a:t>
            </a:r>
            <a:endParaRPr b="1" sz="1300">
              <a:solidFill>
                <a:schemeClr val="dk1"/>
              </a:solidFill>
            </a:endParaRPr>
          </a:p>
          <a:p>
            <a:pPr indent="-298450" lvl="0" marL="457200" rtl="0" algn="l">
              <a:lnSpc>
                <a:spcPct val="115000"/>
              </a:lnSpc>
              <a:spcBef>
                <a:spcPts val="400"/>
              </a:spcBef>
              <a:spcAft>
                <a:spcPts val="0"/>
              </a:spcAft>
              <a:buClr>
                <a:schemeClr val="dk1"/>
              </a:buClr>
              <a:buSzPts val="1100"/>
              <a:buChar char="●"/>
            </a:pPr>
            <a:r>
              <a:rPr b="1" lang="en">
                <a:solidFill>
                  <a:schemeClr val="dk1"/>
                </a:solidFill>
              </a:rPr>
              <a:t>QDD Actuators (The Paper):</a:t>
            </a:r>
            <a:r>
              <a:rPr lang="en">
                <a:solidFill>
                  <a:schemeClr val="dk1"/>
                </a:solidFill>
              </a:rPr>
              <a:t> True QDD actuators (like those popularized by the MIT Cheetah) pair a very high-torque-density motor with a highly specialized, ultra-low friction gear reduction (usually 6:1 to 9:1). They are designed for maximum </a:t>
            </a:r>
            <a:r>
              <a:rPr b="1" lang="en">
                <a:solidFill>
                  <a:schemeClr val="dk1"/>
                </a:solidFill>
              </a:rPr>
              <a:t>torque transparency</a:t>
            </a:r>
            <a:r>
              <a:rPr lang="en">
                <a:solidFill>
                  <a:schemeClr val="dk1"/>
                </a:solidFill>
              </a:rPr>
              <a:t>—meaning mechanical losses are so low that the controller can accurately estimate the actual physical torque output just by reading the motor's electrical phase current.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SteadyWin GIM4305-10 (Your Hardware):</a:t>
            </a:r>
            <a:r>
              <a:rPr lang="en">
                <a:solidFill>
                  <a:schemeClr val="dk1"/>
                </a:solidFill>
              </a:rPr>
              <a:t> While it does have a low 10:1 reduction, it uses a standard, commercial off-the-shelf planetary gearbox. These gearboxes inherently introduce higher friction, mechanical inertia, and roughly 15 arcminutes of </a:t>
            </a:r>
            <a:r>
              <a:rPr b="1" lang="en">
                <a:solidFill>
                  <a:schemeClr val="dk1"/>
                </a:solidFill>
              </a:rPr>
              <a:t>backlash</a:t>
            </a:r>
            <a:r>
              <a:rPr lang="en">
                <a:solidFill>
                  <a:schemeClr val="dk1"/>
                </a:solidFill>
              </a:rPr>
              <a:t> (play between the gear teeth). Because of these mechanical losses, electrical current does not map perfectly to output torque.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2. How This Impacts Your Project</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This hardware difference is the exact reason why your control architecture differs from the reference paper: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Why you can't command raw torque:</a:t>
            </a:r>
            <a:r>
              <a:rPr lang="en">
                <a:solidFill>
                  <a:schemeClr val="dk1"/>
                </a:solidFill>
              </a:rPr>
              <a:t> Because the SteadyWin's planetary gearbox isn't perfectly torque-transparent, a closed-loop "Torque PID" based purely on current (like the paper uses) would be inaccurate. This completely justifies why your Python script (</a:t>
            </a:r>
            <a:r>
              <a:rPr lang="en">
                <a:solidFill>
                  <a:srgbClr val="188038"/>
                </a:solidFill>
              </a:rPr>
              <a:t>pupper_art.py</a:t>
            </a:r>
            <a:r>
              <a:rPr lang="en">
                <a:solidFill>
                  <a:schemeClr val="dk1"/>
                </a:solidFill>
              </a:rPr>
              <a:t>) takes the output of the 3rd PID stage and converts it into a </a:t>
            </a:r>
            <a:r>
              <a:rPr b="1" lang="en">
                <a:solidFill>
                  <a:schemeClr val="dk1"/>
                </a:solidFill>
              </a:rPr>
              <a:t>position delta</a:t>
            </a:r>
            <a:r>
              <a:rPr lang="en">
                <a:solidFill>
                  <a:schemeClr val="dk1"/>
                </a:solidFill>
              </a:rPr>
              <a:t> instead of a raw motor torque command.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Explaining the Sim-to-Real Gap:</a:t>
            </a:r>
            <a:r>
              <a:rPr lang="en">
                <a:solidFill>
                  <a:schemeClr val="dk1"/>
                </a:solidFill>
              </a:rPr>
              <a:t> In your presentation (Slide 24), you noted a "noticeable sim-to-real gap." The friction and backlash inherent to the SteadyWin's planetary gears are major contributing factors to this gap. The simulation likely assumes perfectly rigid, frictionless joints, while the real robot has to overcome the gearbox mechanics, leading to the RMSE errors you measured.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86fb44ef6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d86fb44ef6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bd5a7444d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bd5a7444d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9a8e5b5821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9a8e5b5821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9a8e5b5821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9a8e5b5821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120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86fb44ef6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d86fb44ef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86fb44ef6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d86fb44ef6_1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86fb44ef6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d86fb44ef6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9a8848c19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9a8848c19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9a8848c19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9a8848c19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86fb44ef6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d86fb44ef6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9a8848c19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9a8848c19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9a8848c19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9a8848c19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9a8848c19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9a8848c19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9a8848c19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9a8848c19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9a8848c19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9a8848c19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9a8e5b58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9a8e5b58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a8848c19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a8848c19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9a8848c19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9a8848c19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bd5a744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dbd5a744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dbd5a7444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dbd5a7444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86fb44ef6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d86fb44ef6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d86fb44ef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d86fb44ef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9a8e5b5821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9a8e5b5821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34" name="Shape 134"/>
        <p:cNvGrpSpPr/>
        <p:nvPr/>
      </p:nvGrpSpPr>
      <p:grpSpPr>
        <a:xfrm>
          <a:off x="0" y="0"/>
          <a:ext cx="0" cy="0"/>
          <a:chOff x="0" y="0"/>
          <a:chExt cx="0" cy="0"/>
        </a:xfrm>
      </p:grpSpPr>
      <p:sp>
        <p:nvSpPr>
          <p:cNvPr id="135" name="Google Shape;13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6" name="Google Shape;13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7" name="Google Shape;13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8" name="Shape 138"/>
        <p:cNvGrpSpPr/>
        <p:nvPr/>
      </p:nvGrpSpPr>
      <p:grpSpPr>
        <a:xfrm>
          <a:off x="0" y="0"/>
          <a:ext cx="0" cy="0"/>
          <a:chOff x="0" y="0"/>
          <a:chExt cx="0" cy="0"/>
        </a:xfrm>
      </p:grpSpPr>
      <p:sp>
        <p:nvSpPr>
          <p:cNvPr id="139" name="Google Shape;13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0" name="Google Shape;14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41" name="Shape 141"/>
        <p:cNvGrpSpPr/>
        <p:nvPr/>
      </p:nvGrpSpPr>
      <p:grpSpPr>
        <a:xfrm>
          <a:off x="0" y="0"/>
          <a:ext cx="0" cy="0"/>
          <a:chOff x="0" y="0"/>
          <a:chExt cx="0" cy="0"/>
        </a:xfrm>
      </p:grpSpPr>
      <p:sp>
        <p:nvSpPr>
          <p:cNvPr id="142" name="Google Shape;14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3" name="Google Shape;14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4" name="Google Shape;14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145" name="Shape 145"/>
        <p:cNvGrpSpPr/>
        <p:nvPr/>
      </p:nvGrpSpPr>
      <p:grpSpPr>
        <a:xfrm>
          <a:off x="0" y="0"/>
          <a:ext cx="0" cy="0"/>
          <a:chOff x="0" y="0"/>
          <a:chExt cx="0" cy="0"/>
        </a:xfrm>
      </p:grpSpPr>
      <p:sp>
        <p:nvSpPr>
          <p:cNvPr id="146" name="Google Shape;14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8" name="Google Shape;14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9" name="Google Shape;14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50" name="Shape 150"/>
        <p:cNvGrpSpPr/>
        <p:nvPr/>
      </p:nvGrpSpPr>
      <p:grpSpPr>
        <a:xfrm>
          <a:off x="0" y="0"/>
          <a:ext cx="0" cy="0"/>
          <a:chOff x="0" y="0"/>
          <a:chExt cx="0" cy="0"/>
        </a:xfrm>
      </p:grpSpPr>
      <p:sp>
        <p:nvSpPr>
          <p:cNvPr id="151" name="Google Shape;15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2" name="Google Shape;15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153" name="Shape 153"/>
        <p:cNvGrpSpPr/>
        <p:nvPr/>
      </p:nvGrpSpPr>
      <p:grpSpPr>
        <a:xfrm>
          <a:off x="0" y="0"/>
          <a:ext cx="0" cy="0"/>
          <a:chOff x="0" y="0"/>
          <a:chExt cx="0" cy="0"/>
        </a:xfrm>
      </p:grpSpPr>
      <p:sp>
        <p:nvSpPr>
          <p:cNvPr id="154" name="Google Shape;15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5" name="Google Shape;15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157" name="Shape 157"/>
        <p:cNvGrpSpPr/>
        <p:nvPr/>
      </p:nvGrpSpPr>
      <p:grpSpPr>
        <a:xfrm>
          <a:off x="0" y="0"/>
          <a:ext cx="0" cy="0"/>
          <a:chOff x="0" y="0"/>
          <a:chExt cx="0" cy="0"/>
        </a:xfrm>
      </p:grpSpPr>
      <p:sp>
        <p:nvSpPr>
          <p:cNvPr id="158" name="Google Shape;15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59" name="Google Shape;15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60" name="Shape 160"/>
        <p:cNvGrpSpPr/>
        <p:nvPr/>
      </p:nvGrpSpPr>
      <p:grpSpPr>
        <a:xfrm>
          <a:off x="0" y="0"/>
          <a:ext cx="0" cy="0"/>
          <a:chOff x="0" y="0"/>
          <a:chExt cx="0" cy="0"/>
        </a:xfrm>
      </p:grpSpPr>
      <p:sp>
        <p:nvSpPr>
          <p:cNvPr id="161" name="Google Shape;16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63" name="Google Shape;16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4" name="Google Shape;16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5" name="Google Shape;16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166" name="Shape 166"/>
        <p:cNvGrpSpPr/>
        <p:nvPr/>
      </p:nvGrpSpPr>
      <p:grpSpPr>
        <a:xfrm>
          <a:off x="0" y="0"/>
          <a:ext cx="0" cy="0"/>
          <a:chOff x="0" y="0"/>
          <a:chExt cx="0" cy="0"/>
        </a:xfrm>
      </p:grpSpPr>
      <p:sp>
        <p:nvSpPr>
          <p:cNvPr id="167" name="Google Shape;16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168" name="Google Shape;1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169" name="Shape 169"/>
        <p:cNvGrpSpPr/>
        <p:nvPr/>
      </p:nvGrpSpPr>
      <p:grpSpPr>
        <a:xfrm>
          <a:off x="0" y="0"/>
          <a:ext cx="0" cy="0"/>
          <a:chOff x="0" y="0"/>
          <a:chExt cx="0" cy="0"/>
        </a:xfrm>
      </p:grpSpPr>
      <p:sp>
        <p:nvSpPr>
          <p:cNvPr id="170" name="Google Shape;17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71" name="Google Shape;17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172" name="Google Shape;17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175" name="Shape 175"/>
        <p:cNvGrpSpPr/>
        <p:nvPr/>
      </p:nvGrpSpPr>
      <p:grpSpPr>
        <a:xfrm>
          <a:off x="0" y="0"/>
          <a:ext cx="0" cy="0"/>
          <a:chOff x="0" y="0"/>
          <a:chExt cx="0" cy="0"/>
        </a:xfrm>
      </p:grpSpPr>
      <p:sp>
        <p:nvSpPr>
          <p:cNvPr id="176" name="Google Shape;17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7" name="Google Shape;17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79" name="Google Shape;17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80" name="Google Shape;18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81" name="Google Shape;18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82" name="Google Shape;18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83" name="Google Shape;18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84" name="Shape 184"/>
        <p:cNvGrpSpPr/>
        <p:nvPr/>
      </p:nvGrpSpPr>
      <p:grpSpPr>
        <a:xfrm>
          <a:off x="0" y="0"/>
          <a:ext cx="0" cy="0"/>
          <a:chOff x="0" y="0"/>
          <a:chExt cx="0" cy="0"/>
        </a:xfrm>
      </p:grpSpPr>
      <p:sp>
        <p:nvSpPr>
          <p:cNvPr id="185" name="Google Shape;18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6" name="Google Shape;18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87" name="Google Shape;187;p26"/>
          <p:cNvSpPr/>
          <p:nvPr>
            <p:ph idx="2" type="pic"/>
          </p:nvPr>
        </p:nvSpPr>
        <p:spPr>
          <a:xfrm>
            <a:off x="4992024" y="1152775"/>
            <a:ext cx="3840300" cy="3416400"/>
          </a:xfrm>
          <a:prstGeom prst="rect">
            <a:avLst/>
          </a:prstGeom>
          <a:noFill/>
          <a:ln>
            <a:noFill/>
          </a:ln>
        </p:spPr>
      </p:sp>
      <p:sp>
        <p:nvSpPr>
          <p:cNvPr id="188" name="Google Shape;18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89" name="Shape 189"/>
        <p:cNvGrpSpPr/>
        <p:nvPr/>
      </p:nvGrpSpPr>
      <p:grpSpPr>
        <a:xfrm>
          <a:off x="0" y="0"/>
          <a:ext cx="0" cy="0"/>
          <a:chOff x="0" y="0"/>
          <a:chExt cx="0" cy="0"/>
        </a:xfrm>
      </p:grpSpPr>
      <p:sp>
        <p:nvSpPr>
          <p:cNvPr id="190" name="Google Shape;19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1" name="Google Shape;19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92" name="Google Shape;19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3" name="Google Shape;19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4" name="Google Shape;19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95" name="Google Shape;19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96" name="Shape 196"/>
        <p:cNvGrpSpPr/>
        <p:nvPr/>
      </p:nvGrpSpPr>
      <p:grpSpPr>
        <a:xfrm>
          <a:off x="0" y="0"/>
          <a:ext cx="0" cy="0"/>
          <a:chOff x="0" y="0"/>
          <a:chExt cx="0" cy="0"/>
        </a:xfrm>
      </p:grpSpPr>
      <p:sp>
        <p:nvSpPr>
          <p:cNvPr id="197" name="Google Shape;19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9" name="Google Shape;19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0" name="Google Shape;20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1" name="Google Shape;20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02" name="Google Shape;20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03" name="Google Shape;20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04" name="Google Shape;20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205" name="Shape 205"/>
        <p:cNvGrpSpPr/>
        <p:nvPr/>
      </p:nvGrpSpPr>
      <p:grpSpPr>
        <a:xfrm>
          <a:off x="0" y="0"/>
          <a:ext cx="0" cy="0"/>
          <a:chOff x="0" y="0"/>
          <a:chExt cx="0" cy="0"/>
        </a:xfrm>
      </p:grpSpPr>
      <p:sp>
        <p:nvSpPr>
          <p:cNvPr id="206" name="Google Shape;20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7" name="Google Shape;20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8" name="Google Shape;20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9" name="Google Shape;20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0" name="Google Shape;21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1" name="Google Shape;21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2" name="Google Shape;21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13" name="Google Shape;21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14" name="Google Shape;21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15" name="Google Shape;21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216" name="Shape 216"/>
        <p:cNvGrpSpPr/>
        <p:nvPr/>
      </p:nvGrpSpPr>
      <p:grpSpPr>
        <a:xfrm>
          <a:off x="0" y="0"/>
          <a:ext cx="0" cy="0"/>
          <a:chOff x="0" y="0"/>
          <a:chExt cx="0" cy="0"/>
        </a:xfrm>
      </p:grpSpPr>
      <p:sp>
        <p:nvSpPr>
          <p:cNvPr id="217" name="Google Shape;21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18" name="Google Shape;21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220" name="Shape 220"/>
        <p:cNvGrpSpPr/>
        <p:nvPr/>
      </p:nvGrpSpPr>
      <p:grpSpPr>
        <a:xfrm>
          <a:off x="0" y="0"/>
          <a:ext cx="0" cy="0"/>
          <a:chOff x="0" y="0"/>
          <a:chExt cx="0" cy="0"/>
        </a:xfrm>
      </p:grpSpPr>
      <p:sp>
        <p:nvSpPr>
          <p:cNvPr id="221" name="Google Shape;22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2" name="Google Shape;222;p31"/>
          <p:cNvSpPr/>
          <p:nvPr>
            <p:ph idx="2" type="pic"/>
          </p:nvPr>
        </p:nvSpPr>
        <p:spPr>
          <a:xfrm>
            <a:off x="4804825" y="1133300"/>
            <a:ext cx="4027500" cy="2392800"/>
          </a:xfrm>
          <a:prstGeom prst="rect">
            <a:avLst/>
          </a:prstGeom>
          <a:noFill/>
          <a:ln>
            <a:noFill/>
          </a:ln>
        </p:spPr>
      </p:sp>
      <p:sp>
        <p:nvSpPr>
          <p:cNvPr id="223" name="Google Shape;223;p31"/>
          <p:cNvSpPr/>
          <p:nvPr>
            <p:ph idx="3" type="pic"/>
          </p:nvPr>
        </p:nvSpPr>
        <p:spPr>
          <a:xfrm>
            <a:off x="311725" y="1133300"/>
            <a:ext cx="4027500" cy="2392800"/>
          </a:xfrm>
          <a:prstGeom prst="rect">
            <a:avLst/>
          </a:prstGeom>
          <a:noFill/>
          <a:ln>
            <a:noFill/>
          </a:ln>
        </p:spPr>
      </p:sp>
      <p:sp>
        <p:nvSpPr>
          <p:cNvPr id="224" name="Google Shape;22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5" name="Google Shape;22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6" name="Google Shape;22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27" name="Google Shape;22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8" name="Google Shape;22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229" name="Shape 229"/>
        <p:cNvGrpSpPr/>
        <p:nvPr/>
      </p:nvGrpSpPr>
      <p:grpSpPr>
        <a:xfrm>
          <a:off x="0" y="0"/>
          <a:ext cx="0" cy="0"/>
          <a:chOff x="0" y="0"/>
          <a:chExt cx="0" cy="0"/>
        </a:xfrm>
      </p:grpSpPr>
      <p:sp>
        <p:nvSpPr>
          <p:cNvPr id="230" name="Google Shape;23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1" name="Google Shape;231;p32"/>
          <p:cNvSpPr/>
          <p:nvPr>
            <p:ph idx="2" type="pic"/>
          </p:nvPr>
        </p:nvSpPr>
        <p:spPr>
          <a:xfrm>
            <a:off x="6205225" y="1128325"/>
            <a:ext cx="2627100" cy="2273100"/>
          </a:xfrm>
          <a:prstGeom prst="rect">
            <a:avLst/>
          </a:prstGeom>
          <a:noFill/>
          <a:ln>
            <a:noFill/>
          </a:ln>
        </p:spPr>
      </p:sp>
      <p:sp>
        <p:nvSpPr>
          <p:cNvPr id="232" name="Google Shape;232;p32"/>
          <p:cNvSpPr/>
          <p:nvPr>
            <p:ph idx="3" type="pic"/>
          </p:nvPr>
        </p:nvSpPr>
        <p:spPr>
          <a:xfrm>
            <a:off x="311725" y="1128325"/>
            <a:ext cx="2627100" cy="2273100"/>
          </a:xfrm>
          <a:prstGeom prst="rect">
            <a:avLst/>
          </a:prstGeom>
          <a:noFill/>
          <a:ln>
            <a:noFill/>
          </a:ln>
        </p:spPr>
      </p:sp>
      <p:sp>
        <p:nvSpPr>
          <p:cNvPr id="233" name="Google Shape;23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4" name="Google Shape;234;p32"/>
          <p:cNvSpPr/>
          <p:nvPr>
            <p:ph idx="5" type="pic"/>
          </p:nvPr>
        </p:nvSpPr>
        <p:spPr>
          <a:xfrm>
            <a:off x="3255250" y="1128325"/>
            <a:ext cx="2627100" cy="2273100"/>
          </a:xfrm>
          <a:prstGeom prst="rect">
            <a:avLst/>
          </a:prstGeom>
          <a:noFill/>
          <a:ln>
            <a:noFill/>
          </a:ln>
        </p:spPr>
      </p:sp>
      <p:sp>
        <p:nvSpPr>
          <p:cNvPr id="235" name="Google Shape;23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6" name="Google Shape;23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7" name="Google Shape;23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38" name="Google Shape;23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39" name="Google Shape;23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40" name="Google Shape;24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241" name="Shape 241"/>
        <p:cNvGrpSpPr/>
        <p:nvPr/>
      </p:nvGrpSpPr>
      <p:grpSpPr>
        <a:xfrm>
          <a:off x="0" y="0"/>
          <a:ext cx="0" cy="0"/>
          <a:chOff x="0" y="0"/>
          <a:chExt cx="0" cy="0"/>
        </a:xfrm>
      </p:grpSpPr>
      <p:sp>
        <p:nvSpPr>
          <p:cNvPr id="242" name="Google Shape;242;p33"/>
          <p:cNvSpPr/>
          <p:nvPr>
            <p:ph idx="2" type="pic"/>
          </p:nvPr>
        </p:nvSpPr>
        <p:spPr>
          <a:xfrm>
            <a:off x="311700" y="445025"/>
            <a:ext cx="8520600" cy="4218300"/>
          </a:xfrm>
          <a:prstGeom prst="rect">
            <a:avLst/>
          </a:prstGeom>
          <a:noFill/>
          <a:ln>
            <a:noFill/>
          </a:ln>
        </p:spPr>
      </p:sp>
      <p:sp>
        <p:nvSpPr>
          <p:cNvPr id="243" name="Google Shape;24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244" name="Shape 244"/>
        <p:cNvGrpSpPr/>
        <p:nvPr/>
      </p:nvGrpSpPr>
      <p:grpSpPr>
        <a:xfrm>
          <a:off x="0" y="0"/>
          <a:ext cx="0" cy="0"/>
          <a:chOff x="0" y="0"/>
          <a:chExt cx="0" cy="0"/>
        </a:xfrm>
      </p:grpSpPr>
      <p:sp>
        <p:nvSpPr>
          <p:cNvPr id="245" name="Google Shape;24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4"/>
          <p:cNvSpPr/>
          <p:nvPr>
            <p:ph idx="2" type="pic"/>
          </p:nvPr>
        </p:nvSpPr>
        <p:spPr>
          <a:xfrm>
            <a:off x="3389600" y="118913"/>
            <a:ext cx="1643700" cy="1535100"/>
          </a:xfrm>
          <a:prstGeom prst="rect">
            <a:avLst/>
          </a:prstGeom>
          <a:noFill/>
          <a:ln>
            <a:noFill/>
          </a:ln>
        </p:spPr>
      </p:sp>
      <p:sp>
        <p:nvSpPr>
          <p:cNvPr id="247" name="Google Shape;247;p34"/>
          <p:cNvSpPr/>
          <p:nvPr>
            <p:ph idx="3" type="pic"/>
          </p:nvPr>
        </p:nvSpPr>
        <p:spPr>
          <a:xfrm>
            <a:off x="5195935" y="118913"/>
            <a:ext cx="1643700" cy="1535100"/>
          </a:xfrm>
          <a:prstGeom prst="rect">
            <a:avLst/>
          </a:prstGeom>
          <a:noFill/>
          <a:ln>
            <a:noFill/>
          </a:ln>
        </p:spPr>
      </p:sp>
      <p:sp>
        <p:nvSpPr>
          <p:cNvPr id="248" name="Google Shape;248;p34"/>
          <p:cNvSpPr/>
          <p:nvPr>
            <p:ph idx="4" type="pic"/>
          </p:nvPr>
        </p:nvSpPr>
        <p:spPr>
          <a:xfrm>
            <a:off x="7002270" y="118913"/>
            <a:ext cx="1643700" cy="1535100"/>
          </a:xfrm>
          <a:prstGeom prst="rect">
            <a:avLst/>
          </a:prstGeom>
          <a:noFill/>
          <a:ln>
            <a:noFill/>
          </a:ln>
        </p:spPr>
      </p:sp>
      <p:sp>
        <p:nvSpPr>
          <p:cNvPr id="249" name="Google Shape;249;p34"/>
          <p:cNvSpPr/>
          <p:nvPr>
            <p:ph idx="5" type="pic"/>
          </p:nvPr>
        </p:nvSpPr>
        <p:spPr>
          <a:xfrm>
            <a:off x="3389588" y="1804212"/>
            <a:ext cx="1643700" cy="1535100"/>
          </a:xfrm>
          <a:prstGeom prst="rect">
            <a:avLst/>
          </a:prstGeom>
          <a:noFill/>
          <a:ln>
            <a:noFill/>
          </a:ln>
        </p:spPr>
      </p:sp>
      <p:sp>
        <p:nvSpPr>
          <p:cNvPr id="250" name="Google Shape;250;p34"/>
          <p:cNvSpPr/>
          <p:nvPr>
            <p:ph idx="6" type="pic"/>
          </p:nvPr>
        </p:nvSpPr>
        <p:spPr>
          <a:xfrm>
            <a:off x="5195922" y="1804212"/>
            <a:ext cx="1643700" cy="1535100"/>
          </a:xfrm>
          <a:prstGeom prst="rect">
            <a:avLst/>
          </a:prstGeom>
          <a:noFill/>
          <a:ln>
            <a:noFill/>
          </a:ln>
        </p:spPr>
      </p:sp>
      <p:sp>
        <p:nvSpPr>
          <p:cNvPr id="251" name="Google Shape;251;p34"/>
          <p:cNvSpPr/>
          <p:nvPr>
            <p:ph idx="7" type="pic"/>
          </p:nvPr>
        </p:nvSpPr>
        <p:spPr>
          <a:xfrm>
            <a:off x="7002257" y="1804212"/>
            <a:ext cx="1643700" cy="1535100"/>
          </a:xfrm>
          <a:prstGeom prst="rect">
            <a:avLst/>
          </a:prstGeom>
          <a:noFill/>
          <a:ln>
            <a:noFill/>
          </a:ln>
        </p:spPr>
      </p:sp>
      <p:sp>
        <p:nvSpPr>
          <p:cNvPr id="252" name="Google Shape;25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53" name="Google Shape;253;p34"/>
          <p:cNvSpPr/>
          <p:nvPr>
            <p:ph idx="8" type="pic"/>
          </p:nvPr>
        </p:nvSpPr>
        <p:spPr>
          <a:xfrm>
            <a:off x="3389588" y="3489487"/>
            <a:ext cx="1643700" cy="1535100"/>
          </a:xfrm>
          <a:prstGeom prst="rect">
            <a:avLst/>
          </a:prstGeom>
          <a:noFill/>
          <a:ln>
            <a:noFill/>
          </a:ln>
        </p:spPr>
      </p:sp>
      <p:sp>
        <p:nvSpPr>
          <p:cNvPr id="254" name="Google Shape;254;p34"/>
          <p:cNvSpPr/>
          <p:nvPr>
            <p:ph idx="9" type="pic"/>
          </p:nvPr>
        </p:nvSpPr>
        <p:spPr>
          <a:xfrm>
            <a:off x="5195922" y="3489487"/>
            <a:ext cx="1643700" cy="1535100"/>
          </a:xfrm>
          <a:prstGeom prst="rect">
            <a:avLst/>
          </a:prstGeom>
          <a:noFill/>
          <a:ln>
            <a:noFill/>
          </a:ln>
        </p:spPr>
      </p:sp>
      <p:sp>
        <p:nvSpPr>
          <p:cNvPr id="255" name="Google Shape;25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256" name="Shape 256"/>
        <p:cNvGrpSpPr/>
        <p:nvPr/>
      </p:nvGrpSpPr>
      <p:grpSpPr>
        <a:xfrm>
          <a:off x="0" y="0"/>
          <a:ext cx="0" cy="0"/>
          <a:chOff x="0" y="0"/>
          <a:chExt cx="0" cy="0"/>
        </a:xfrm>
      </p:grpSpPr>
      <p:sp>
        <p:nvSpPr>
          <p:cNvPr id="257" name="Google Shape;25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58" name="Google Shape;25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259" name="Google Shape;25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260" name="Google Shape;260;p35"/>
          <p:cNvSpPr/>
          <p:nvPr>
            <p:ph idx="3" type="pic"/>
          </p:nvPr>
        </p:nvSpPr>
        <p:spPr>
          <a:xfrm>
            <a:off x="4437578" y="2171250"/>
            <a:ext cx="4509600" cy="2775600"/>
          </a:xfrm>
          <a:prstGeom prst="round2DiagRect">
            <a:avLst>
              <a:gd fmla="val 16667" name="adj1"/>
              <a:gd fmla="val 0" name="adj2"/>
            </a:avLst>
          </a:prstGeom>
          <a:noFill/>
          <a:ln>
            <a:noFill/>
          </a:ln>
        </p:spPr>
      </p:sp>
      <p:sp>
        <p:nvSpPr>
          <p:cNvPr id="261" name="Google Shape;26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262" name="Shape 262"/>
        <p:cNvGrpSpPr/>
        <p:nvPr/>
      </p:nvGrpSpPr>
      <p:grpSpPr>
        <a:xfrm>
          <a:off x="0" y="0"/>
          <a:ext cx="0" cy="0"/>
          <a:chOff x="0" y="0"/>
          <a:chExt cx="0" cy="0"/>
        </a:xfrm>
      </p:grpSpPr>
      <p:sp>
        <p:nvSpPr>
          <p:cNvPr id="263" name="Google Shape;26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4" name="Google Shape;26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5" name="Google Shape;26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6" name="Google Shape;26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7" name="Google Shape;26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8" name="Google Shape;26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9" name="Google Shape;26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70" name="Google Shape;27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271" name="Shape 271"/>
        <p:cNvGrpSpPr/>
        <p:nvPr/>
      </p:nvGrpSpPr>
      <p:grpSpPr>
        <a:xfrm>
          <a:off x="0" y="0"/>
          <a:ext cx="0" cy="0"/>
          <a:chOff x="0" y="0"/>
          <a:chExt cx="0" cy="0"/>
        </a:xfrm>
      </p:grpSpPr>
      <p:sp>
        <p:nvSpPr>
          <p:cNvPr id="272" name="Google Shape;27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274" name="Google Shape;27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75" name="Google Shape;27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276" name="Shape 276"/>
        <p:cNvGrpSpPr/>
        <p:nvPr/>
      </p:nvGrpSpPr>
      <p:grpSpPr>
        <a:xfrm>
          <a:off x="0" y="0"/>
          <a:ext cx="0" cy="0"/>
          <a:chOff x="0" y="0"/>
          <a:chExt cx="0" cy="0"/>
        </a:xfrm>
      </p:grpSpPr>
      <p:sp>
        <p:nvSpPr>
          <p:cNvPr id="277" name="Google Shape;27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279" name="Google Shape;27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80" name="Google Shape;28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81" name="Shape 281"/>
        <p:cNvGrpSpPr/>
        <p:nvPr/>
      </p:nvGrpSpPr>
      <p:grpSpPr>
        <a:xfrm>
          <a:off x="0" y="0"/>
          <a:ext cx="0" cy="0"/>
          <a:chOff x="0" y="0"/>
          <a:chExt cx="0" cy="0"/>
        </a:xfrm>
      </p:grpSpPr>
      <p:sp>
        <p:nvSpPr>
          <p:cNvPr id="282" name="Google Shape;28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83" name="Google Shape;28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84" name="Google Shape;28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5" name="Google Shape;285;p39"/>
          <p:cNvSpPr/>
          <p:nvPr>
            <p:ph idx="2" type="pic"/>
          </p:nvPr>
        </p:nvSpPr>
        <p:spPr>
          <a:xfrm>
            <a:off x="3726325" y="669925"/>
            <a:ext cx="5220900" cy="4276800"/>
          </a:xfrm>
          <a:prstGeom prst="round2DiagRect">
            <a:avLst>
              <a:gd fmla="val 16667" name="adj1"/>
              <a:gd fmla="val 0" name="adj2"/>
            </a:avLst>
          </a:prstGeom>
          <a:noFill/>
          <a:ln>
            <a:noFill/>
          </a:ln>
        </p:spPr>
      </p:sp>
      <p:sp>
        <p:nvSpPr>
          <p:cNvPr id="286" name="Google Shape;28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87" name="Google Shape;28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88" name="Shape 288"/>
        <p:cNvGrpSpPr/>
        <p:nvPr/>
      </p:nvGrpSpPr>
      <p:grpSpPr>
        <a:xfrm>
          <a:off x="0" y="0"/>
          <a:ext cx="0" cy="0"/>
          <a:chOff x="0" y="0"/>
          <a:chExt cx="0" cy="0"/>
        </a:xfrm>
      </p:grpSpPr>
      <p:sp>
        <p:nvSpPr>
          <p:cNvPr id="289" name="Google Shape;28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90" name="Google Shape;29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91" name="Google Shape;29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2" name="Google Shape;292;p40"/>
          <p:cNvSpPr/>
          <p:nvPr>
            <p:ph idx="2" type="pic"/>
          </p:nvPr>
        </p:nvSpPr>
        <p:spPr>
          <a:xfrm>
            <a:off x="3726325" y="669925"/>
            <a:ext cx="5220900" cy="4276800"/>
          </a:xfrm>
          <a:prstGeom prst="round2DiagRect">
            <a:avLst>
              <a:gd fmla="val 16667" name="adj1"/>
              <a:gd fmla="val 0" name="adj2"/>
            </a:avLst>
          </a:prstGeom>
          <a:noFill/>
          <a:ln>
            <a:noFill/>
          </a:ln>
        </p:spPr>
      </p:sp>
      <p:sp>
        <p:nvSpPr>
          <p:cNvPr id="293" name="Google Shape;29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94" name="Google Shape;29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95" name="Google Shape;29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96" name="Shape 296"/>
        <p:cNvGrpSpPr/>
        <p:nvPr/>
      </p:nvGrpSpPr>
      <p:grpSpPr>
        <a:xfrm>
          <a:off x="0" y="0"/>
          <a:ext cx="0" cy="0"/>
          <a:chOff x="0" y="0"/>
          <a:chExt cx="0" cy="0"/>
        </a:xfrm>
      </p:grpSpPr>
      <p:sp>
        <p:nvSpPr>
          <p:cNvPr id="297" name="Google Shape;29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98" name="Google Shape;29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300" name="Google Shape;30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301" name="Google Shape;30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2" name="Google Shape;30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303" name="Shape 303"/>
        <p:cNvGrpSpPr/>
        <p:nvPr/>
      </p:nvGrpSpPr>
      <p:grpSpPr>
        <a:xfrm>
          <a:off x="0" y="0"/>
          <a:ext cx="0" cy="0"/>
          <a:chOff x="0" y="0"/>
          <a:chExt cx="0" cy="0"/>
        </a:xfrm>
      </p:grpSpPr>
      <p:sp>
        <p:nvSpPr>
          <p:cNvPr id="304" name="Google Shape;30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06" name="Google Shape;30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07" name="Google Shape;30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08" name="Google Shape;30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09" name="Google Shape;30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10" name="Google Shape;31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11" name="Google Shape;31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12" name="Google Shape;31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13" name="Google Shape;31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14" name="Google Shape;31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15" name="Google Shape;31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16" name="Google Shape;31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17" name="Google Shape;31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18" name="Google Shape;31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19" name="Google Shape;31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20" name="Google Shape;32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21" name="Google Shape;32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22" name="Google Shape;32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23" name="Google Shape;32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24" name="Google Shape;32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25" name="Google Shape;32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26" name="Google Shape;32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27" name="Google Shape;32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28" name="Google Shape;32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29" name="Google Shape;32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30" name="Google Shape;33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331" name="Google Shape;33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332" name="Google Shape;33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33" name="Google Shape;33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334" name="Shape 334"/>
        <p:cNvGrpSpPr/>
        <p:nvPr/>
      </p:nvGrpSpPr>
      <p:grpSpPr>
        <a:xfrm>
          <a:off x="0" y="0"/>
          <a:ext cx="0" cy="0"/>
          <a:chOff x="0" y="0"/>
          <a:chExt cx="0" cy="0"/>
        </a:xfrm>
      </p:grpSpPr>
      <p:sp>
        <p:nvSpPr>
          <p:cNvPr id="335" name="Google Shape;33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6" name="Google Shape;33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337" name="Google Shape;33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0" name="Shape 130"/>
        <p:cNvGrpSpPr/>
        <p:nvPr/>
      </p:nvGrpSpPr>
      <p:grpSpPr>
        <a:xfrm>
          <a:off x="0" y="0"/>
          <a:ext cx="0" cy="0"/>
          <a:chOff x="0" y="0"/>
          <a:chExt cx="0" cy="0"/>
        </a:xfrm>
      </p:grpSpPr>
      <p:sp>
        <p:nvSpPr>
          <p:cNvPr id="131" name="Google Shape;13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132" name="Google Shape;13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133" name="Google Shape;13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2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drive.google.com/file/d/1utD555548JR3UXoYxy0-66auf6-M8r-A/view" TargetMode="Externa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hyperlink" Target="http://drive.google.com/file/d/1j_A2WDazD6SolH5ItHs9WSgCgQvE3wvg/view" TargetMode="External"/><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hyperlink" Target="http://drive.google.com/file/d/1SeORT88M5vAvem8quZjiqzMhGsq5bmRl/view" TargetMode="Externa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hyperlink" Target="http://drive.google.com/file/d/1nZ4HgYBCVexa0p3m4zlTC1kSV5Zlj4lz/view" TargetMode="Externa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hyperlink" Target="http://drive.google.com/file/d/10s2JgOBWu9mV6vkQ9AO43yJJtMx0Lb8_/view" TargetMode="External"/><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3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4"/>
          <p:cNvSpPr txBox="1"/>
          <p:nvPr>
            <p:ph idx="4" type="body"/>
          </p:nvPr>
        </p:nvSpPr>
        <p:spPr>
          <a:xfrm>
            <a:off x="8208751" y="196725"/>
            <a:ext cx="8124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05/04/2026</a:t>
            </a:r>
            <a:endParaRPr/>
          </a:p>
        </p:txBody>
      </p:sp>
      <p:sp>
        <p:nvSpPr>
          <p:cNvPr id="343" name="Google Shape;343;p44"/>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hlink"/>
              </a:buClr>
              <a:buSzPts val="1100"/>
              <a:buFont typeface="Arial"/>
              <a:buNone/>
            </a:pPr>
            <a:r>
              <a:rPr b="0" lang="en" sz="4000">
                <a:solidFill>
                  <a:schemeClr val="accent3"/>
                </a:solidFill>
                <a:latin typeface="Montserrat"/>
                <a:ea typeface="Montserrat"/>
                <a:cs typeface="Montserrat"/>
                <a:sym typeface="Montserrat"/>
              </a:rPr>
              <a:t>Lyra, Art Dog using Cascaded PID</a:t>
            </a:r>
            <a:endParaRPr b="0" sz="4000">
              <a:solidFill>
                <a:schemeClr val="accent3"/>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344" name="Google Shape;344;p44"/>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300">
                <a:solidFill>
                  <a:schemeClr val="accent3"/>
                </a:solidFill>
                <a:latin typeface="Lato"/>
                <a:ea typeface="Lato"/>
                <a:cs typeface="Lato"/>
                <a:sym typeface="Lato"/>
              </a:rPr>
              <a:t>Joseph Dai, Nishanth Shubhakar Mandala, Diego Quintanilla</a:t>
            </a:r>
            <a:endParaRPr sz="1300">
              <a:solidFill>
                <a:schemeClr val="accent3"/>
              </a:solidFill>
              <a:latin typeface="Lato"/>
              <a:ea typeface="Lato"/>
              <a:cs typeface="Lato"/>
              <a:sym typeface="Lato"/>
            </a:endParaRPr>
          </a:p>
          <a:p>
            <a:pPr indent="0" lvl="0" marL="0" rtl="0" algn="l">
              <a:spcBef>
                <a:spcPts val="0"/>
              </a:spcBef>
              <a:spcAft>
                <a:spcPts val="0"/>
              </a:spcAft>
              <a:buNone/>
            </a:pPr>
            <a:r>
              <a:t/>
            </a:r>
            <a:endParaRPr/>
          </a:p>
        </p:txBody>
      </p:sp>
      <p:pic>
        <p:nvPicPr>
          <p:cNvPr id="345" name="Google Shape;345;p44" title="IMG_0315.jpg"/>
          <p:cNvPicPr preferRelativeResize="0"/>
          <p:nvPr/>
        </p:nvPicPr>
        <p:blipFill>
          <a:blip r:embed="rId3">
            <a:alphaModFix/>
          </a:blip>
          <a:stretch>
            <a:fillRect/>
          </a:stretch>
        </p:blipFill>
        <p:spPr>
          <a:xfrm>
            <a:off x="5068875" y="2026775"/>
            <a:ext cx="3877749" cy="2989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45"/>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Agenda</a:t>
            </a:r>
            <a:endParaRPr/>
          </a:p>
        </p:txBody>
      </p:sp>
      <p:sp>
        <p:nvSpPr>
          <p:cNvPr id="352" name="Google Shape;352;p45"/>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353" name="Google Shape;353;p45"/>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Introduction</a:t>
            </a:r>
            <a:endParaRPr b="1" sz="3650">
              <a:solidFill>
                <a:schemeClr val="dk1"/>
              </a:solidFill>
              <a:latin typeface="Merriweather"/>
              <a:ea typeface="Merriweather"/>
              <a:cs typeface="Merriweather"/>
              <a:sym typeface="Merriweather"/>
            </a:endParaRPr>
          </a:p>
        </p:txBody>
      </p:sp>
      <p:sp>
        <p:nvSpPr>
          <p:cNvPr id="354" name="Google Shape;354;p45"/>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Problem Definition</a:t>
            </a:r>
            <a:endParaRPr b="1" sz="3650">
              <a:solidFill>
                <a:schemeClr val="dk1"/>
              </a:solidFill>
              <a:latin typeface="Merriweather"/>
              <a:ea typeface="Merriweather"/>
              <a:cs typeface="Merriweather"/>
              <a:sym typeface="Merriweather"/>
            </a:endParaRPr>
          </a:p>
        </p:txBody>
      </p:sp>
      <p:sp>
        <p:nvSpPr>
          <p:cNvPr id="355" name="Google Shape;355;p45"/>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Method</a:t>
            </a:r>
            <a:endParaRPr b="1" sz="3650">
              <a:solidFill>
                <a:schemeClr val="dk1"/>
              </a:solidFill>
              <a:latin typeface="Merriweather"/>
              <a:ea typeface="Merriweather"/>
              <a:cs typeface="Merriweather"/>
              <a:sym typeface="Merriweather"/>
            </a:endParaRPr>
          </a:p>
        </p:txBody>
      </p:sp>
      <p:sp>
        <p:nvSpPr>
          <p:cNvPr id="356" name="Google Shape;356;p45"/>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Experiment &amp; Results</a:t>
            </a:r>
            <a:endParaRPr b="1" sz="3650">
              <a:solidFill>
                <a:schemeClr val="dk1"/>
              </a:solidFill>
              <a:latin typeface="Merriweather"/>
              <a:ea typeface="Merriweather"/>
              <a:cs typeface="Merriweather"/>
              <a:sym typeface="Merriweather"/>
            </a:endParaRPr>
          </a:p>
        </p:txBody>
      </p:sp>
      <p:sp>
        <p:nvSpPr>
          <p:cNvPr id="357" name="Google Shape;357;p45"/>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Conclusion</a:t>
            </a:r>
            <a:endParaRPr b="1" sz="3650">
              <a:solidFill>
                <a:schemeClr val="dk1"/>
              </a:solidFill>
              <a:latin typeface="Merriweather"/>
              <a:ea typeface="Merriweather"/>
              <a:cs typeface="Merriweather"/>
              <a:sym typeface="Merriweather"/>
            </a:endParaRPr>
          </a:p>
        </p:txBody>
      </p:sp>
      <p:sp>
        <p:nvSpPr>
          <p:cNvPr id="358" name="Google Shape;358;p45"/>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1.</a:t>
            </a:r>
            <a:endParaRPr b="1" sz="1450">
              <a:solidFill>
                <a:schemeClr val="dk1"/>
              </a:solidFill>
              <a:latin typeface="Merriweather"/>
              <a:ea typeface="Merriweather"/>
              <a:cs typeface="Merriweather"/>
              <a:sym typeface="Merriweather"/>
            </a:endParaRPr>
          </a:p>
        </p:txBody>
      </p:sp>
      <p:sp>
        <p:nvSpPr>
          <p:cNvPr id="359" name="Google Shape;359;p45"/>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2.</a:t>
            </a:r>
            <a:endParaRPr b="1" sz="1450">
              <a:solidFill>
                <a:schemeClr val="dk1"/>
              </a:solidFill>
              <a:latin typeface="Merriweather"/>
              <a:ea typeface="Merriweather"/>
              <a:cs typeface="Merriweather"/>
              <a:sym typeface="Merriweather"/>
            </a:endParaRPr>
          </a:p>
        </p:txBody>
      </p:sp>
      <p:sp>
        <p:nvSpPr>
          <p:cNvPr id="360" name="Google Shape;360;p45"/>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3.</a:t>
            </a:r>
            <a:endParaRPr b="1" sz="1450">
              <a:solidFill>
                <a:schemeClr val="dk1"/>
              </a:solidFill>
              <a:latin typeface="Merriweather"/>
              <a:ea typeface="Merriweather"/>
              <a:cs typeface="Merriweather"/>
              <a:sym typeface="Merriweather"/>
            </a:endParaRPr>
          </a:p>
        </p:txBody>
      </p:sp>
      <p:sp>
        <p:nvSpPr>
          <p:cNvPr id="361" name="Google Shape;361;p45"/>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4.</a:t>
            </a:r>
            <a:endParaRPr b="1" sz="1450">
              <a:solidFill>
                <a:schemeClr val="dk1"/>
              </a:solidFill>
              <a:latin typeface="Merriweather"/>
              <a:ea typeface="Merriweather"/>
              <a:cs typeface="Merriweather"/>
              <a:sym typeface="Merriweather"/>
            </a:endParaRPr>
          </a:p>
        </p:txBody>
      </p:sp>
      <p:sp>
        <p:nvSpPr>
          <p:cNvPr id="362" name="Google Shape;362;p45"/>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5.</a:t>
            </a:r>
            <a:endParaRPr b="1" sz="1450">
              <a:solidFill>
                <a:schemeClr val="dk1"/>
              </a:solidFill>
              <a:latin typeface="Merriweather"/>
              <a:ea typeface="Merriweather"/>
              <a:cs typeface="Merriweather"/>
              <a:sym typeface="Merriweather"/>
            </a:endParaRPr>
          </a:p>
        </p:txBody>
      </p:sp>
      <p:sp>
        <p:nvSpPr>
          <p:cNvPr id="363" name="Google Shape;363;p45"/>
          <p:cNvSpPr txBox="1"/>
          <p:nvPr/>
        </p:nvSpPr>
        <p:spPr>
          <a:xfrm>
            <a:off x="524744" y="461313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50">
                <a:solidFill>
                  <a:schemeClr val="dk1"/>
                </a:solidFill>
                <a:latin typeface="Merriweather"/>
                <a:ea typeface="Merriweather"/>
                <a:cs typeface="Merriweather"/>
                <a:sym typeface="Merriweather"/>
              </a:rPr>
              <a:t>References</a:t>
            </a:r>
            <a:endParaRPr b="1" sz="2250">
              <a:solidFill>
                <a:schemeClr val="dk1"/>
              </a:solidFill>
              <a:latin typeface="Merriweather"/>
              <a:ea typeface="Merriweather"/>
              <a:cs typeface="Merriweather"/>
              <a:sym typeface="Merriweather"/>
            </a:endParaRPr>
          </a:p>
        </p:txBody>
      </p:sp>
      <p:sp>
        <p:nvSpPr>
          <p:cNvPr id="364" name="Google Shape;364;p45"/>
          <p:cNvSpPr txBox="1"/>
          <p:nvPr/>
        </p:nvSpPr>
        <p:spPr>
          <a:xfrm>
            <a:off x="205261" y="461313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Merriweather"/>
                <a:ea typeface="Merriweather"/>
                <a:cs typeface="Merriweather"/>
                <a:sym typeface="Merriweather"/>
              </a:rPr>
              <a:t>6</a:t>
            </a:r>
            <a:r>
              <a:rPr b="1" lang="en" sz="1100">
                <a:solidFill>
                  <a:schemeClr val="dk1"/>
                </a:solidFill>
                <a:latin typeface="Merriweather"/>
                <a:ea typeface="Merriweather"/>
                <a:cs typeface="Merriweather"/>
                <a:sym typeface="Merriweather"/>
              </a:rPr>
              <a:t>.</a:t>
            </a:r>
            <a:endParaRPr b="1" sz="1100">
              <a:solidFill>
                <a:schemeClr val="dk1"/>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4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371" name="Google Shape;371;p46"/>
          <p:cNvSpPr txBox="1"/>
          <p:nvPr/>
        </p:nvSpPr>
        <p:spPr>
          <a:xfrm>
            <a:off x="448875" y="405825"/>
            <a:ext cx="4937400" cy="8226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3450">
                <a:solidFill>
                  <a:schemeClr val="dk1"/>
                </a:solidFill>
                <a:latin typeface="Merriweather"/>
                <a:ea typeface="Merriweather"/>
                <a:cs typeface="Merriweather"/>
                <a:sym typeface="Merriweather"/>
              </a:rPr>
              <a:t>Introduction</a:t>
            </a:r>
            <a:endParaRPr b="1" sz="3600">
              <a:solidFill>
                <a:schemeClr val="dk2"/>
              </a:solidFill>
              <a:latin typeface="DM Sans"/>
              <a:ea typeface="DM Sans"/>
              <a:cs typeface="DM Sans"/>
              <a:sym typeface="DM Sans"/>
            </a:endParaRPr>
          </a:p>
        </p:txBody>
      </p:sp>
      <p:sp>
        <p:nvSpPr>
          <p:cNvPr id="372" name="Google Shape;372;p46"/>
          <p:cNvSpPr txBox="1"/>
          <p:nvPr/>
        </p:nvSpPr>
        <p:spPr>
          <a:xfrm>
            <a:off x="623825" y="1267175"/>
            <a:ext cx="7848600" cy="3396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Lyra uses a quadruped robot with a marker to draw different patterns on the ground.</a:t>
            </a:r>
            <a:endParaRPr sz="1600">
              <a:solidFill>
                <a:schemeClr val="dk2"/>
              </a:solidFill>
              <a:latin typeface="DM Sans"/>
              <a:ea typeface="DM Sans"/>
              <a:cs typeface="DM Sans"/>
              <a:sym typeface="DM Sans"/>
            </a:endParaRPr>
          </a:p>
          <a:p>
            <a:pPr indent="-330200" lvl="0" marL="457200" rtl="0" algn="l">
              <a:lnSpc>
                <a:spcPct val="115000"/>
              </a:lnSpc>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The goal is to follow a given path and reproduce it as accurately as possible in the real world.</a:t>
            </a:r>
            <a:endParaRPr sz="1600">
              <a:solidFill>
                <a:schemeClr val="dk2"/>
              </a:solidFill>
              <a:latin typeface="DM Sans"/>
              <a:ea typeface="DM Sans"/>
              <a:cs typeface="DM Sans"/>
              <a:sym typeface="DM Sans"/>
            </a:endParaRPr>
          </a:p>
          <a:p>
            <a:pPr indent="-330200" lvl="0" marL="457200" rtl="0" algn="l">
              <a:lnSpc>
                <a:spcPct val="115000"/>
              </a:lnSpc>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The system uses joint measurements and kinematics to track the marker position, and a cascaded PID controller to reduce tracking error during motion.</a:t>
            </a:r>
            <a:endParaRPr sz="1600">
              <a:solidFill>
                <a:schemeClr val="dk2"/>
              </a:solidFill>
              <a:latin typeface="DM Sans"/>
              <a:ea typeface="DM Sans"/>
              <a:cs typeface="DM Sans"/>
              <a:sym typeface="DM Sans"/>
            </a:endParaRPr>
          </a:p>
          <a:p>
            <a:pPr indent="0" lvl="0" marL="0" rtl="0" algn="l">
              <a:spcBef>
                <a:spcPts val="1200"/>
              </a:spcBef>
              <a:spcAft>
                <a:spcPts val="0"/>
              </a:spcAft>
              <a:buNone/>
            </a:pPr>
            <a:r>
              <a:t/>
            </a:r>
            <a:endParaRPr sz="1600">
              <a:solidFill>
                <a:schemeClr val="dk2"/>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4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379" name="Google Shape;379;p47"/>
          <p:cNvSpPr txBox="1"/>
          <p:nvPr/>
        </p:nvSpPr>
        <p:spPr>
          <a:xfrm>
            <a:off x="448875" y="405825"/>
            <a:ext cx="4937400" cy="8226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3600">
                <a:solidFill>
                  <a:schemeClr val="dk2"/>
                </a:solidFill>
                <a:latin typeface="DM Sans"/>
                <a:ea typeface="DM Sans"/>
                <a:cs typeface="DM Sans"/>
                <a:sym typeface="DM Sans"/>
              </a:rPr>
              <a:t>Problem Definition</a:t>
            </a:r>
            <a:endParaRPr b="1" sz="3600">
              <a:solidFill>
                <a:schemeClr val="dk2"/>
              </a:solidFill>
              <a:latin typeface="DM Sans"/>
              <a:ea typeface="DM Sans"/>
              <a:cs typeface="DM Sans"/>
              <a:sym typeface="DM Sans"/>
            </a:endParaRPr>
          </a:p>
        </p:txBody>
      </p:sp>
      <p:sp>
        <p:nvSpPr>
          <p:cNvPr id="380" name="Google Shape;380;p47"/>
          <p:cNvSpPr txBox="1"/>
          <p:nvPr/>
        </p:nvSpPr>
        <p:spPr>
          <a:xfrm>
            <a:off x="623825" y="1267175"/>
            <a:ext cx="7848600" cy="3396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DM Sans"/>
              <a:buChar char="●"/>
            </a:pPr>
            <a:r>
              <a:rPr b="1" lang="en" sz="1600">
                <a:solidFill>
                  <a:schemeClr val="dk2"/>
                </a:solidFill>
                <a:latin typeface="DM Sans"/>
                <a:ea typeface="DM Sans"/>
                <a:cs typeface="DM Sans"/>
                <a:sym typeface="DM Sans"/>
              </a:rPr>
              <a:t>Goal</a:t>
            </a:r>
            <a:r>
              <a:rPr lang="en" sz="1600">
                <a:solidFill>
                  <a:schemeClr val="dk2"/>
                </a:solidFill>
                <a:latin typeface="DM Sans"/>
                <a:ea typeface="DM Sans"/>
                <a:cs typeface="DM Sans"/>
                <a:sym typeface="DM Sans"/>
              </a:rPr>
              <a:t>: Make Lyra accurately draw target shapes using the robot foot-mounted marker.</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b="1" lang="en" sz="1600">
                <a:solidFill>
                  <a:schemeClr val="dk2"/>
                </a:solidFill>
                <a:latin typeface="DM Sans"/>
                <a:ea typeface="DM Sans"/>
                <a:cs typeface="DM Sans"/>
                <a:sym typeface="DM Sans"/>
              </a:rPr>
              <a:t>Given Measurements:</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Joint angles from the robot</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Joint speeds from the robot</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Desired drawing path</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Motor commands</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b="1" lang="en" sz="1600">
                <a:solidFill>
                  <a:schemeClr val="dk2"/>
                </a:solidFill>
                <a:latin typeface="DM Sans"/>
                <a:ea typeface="DM Sans"/>
                <a:cs typeface="DM Sans"/>
                <a:sym typeface="DM Sans"/>
              </a:rPr>
              <a:t>State Variable:</a:t>
            </a:r>
            <a:endParaRPr b="1"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The marker tip position on the ground</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b="1" lang="en" sz="1600">
                <a:solidFill>
                  <a:schemeClr val="dk2"/>
                </a:solidFill>
                <a:latin typeface="DM Sans"/>
                <a:ea typeface="DM Sans"/>
                <a:cs typeface="DM Sans"/>
                <a:sym typeface="DM Sans"/>
              </a:rPr>
              <a:t>Intermediate Variables:</a:t>
            </a:r>
            <a:endParaRPr b="1" sz="1600">
              <a:solidFill>
                <a:schemeClr val="dk2"/>
              </a:solidFill>
              <a:latin typeface="DM Sans"/>
              <a:ea typeface="DM Sans"/>
              <a:cs typeface="DM Sans"/>
              <a:sym typeface="DM Sans"/>
            </a:endParaRPr>
          </a:p>
          <a:p>
            <a:pPr indent="-298450" lvl="1" marL="914400" rtl="0" algn="l">
              <a:lnSpc>
                <a:spcPct val="115000"/>
              </a:lnSpc>
              <a:spcBef>
                <a:spcPts val="0"/>
              </a:spcBef>
              <a:spcAft>
                <a:spcPts val="0"/>
              </a:spcAft>
              <a:buClr>
                <a:schemeClr val="hlink"/>
              </a:buClr>
              <a:buSzPts val="1100"/>
              <a:buChar char="○"/>
            </a:pPr>
            <a:r>
              <a:rPr lang="en" sz="1600">
                <a:solidFill>
                  <a:schemeClr val="dk2"/>
                </a:solidFill>
                <a:latin typeface="DM Sans"/>
                <a:ea typeface="DM Sans"/>
                <a:cs typeface="DM Sans"/>
                <a:sym typeface="DM Sans"/>
              </a:rPr>
              <a:t>Marker position calculated from joint angles</a:t>
            </a:r>
            <a:endParaRPr sz="1600">
              <a:solidFill>
                <a:schemeClr val="dk2"/>
              </a:solidFill>
              <a:latin typeface="DM Sans"/>
              <a:ea typeface="DM Sans"/>
              <a:cs typeface="DM Sans"/>
              <a:sym typeface="DM Sans"/>
            </a:endParaRPr>
          </a:p>
          <a:p>
            <a:pPr indent="-298450" lvl="1" marL="914400" rtl="0" algn="l">
              <a:lnSpc>
                <a:spcPct val="115000"/>
              </a:lnSpc>
              <a:spcBef>
                <a:spcPts val="0"/>
              </a:spcBef>
              <a:spcAft>
                <a:spcPts val="0"/>
              </a:spcAft>
              <a:buClr>
                <a:schemeClr val="hlink"/>
              </a:buClr>
              <a:buSzPts val="1100"/>
              <a:buChar char="○"/>
            </a:pPr>
            <a:r>
              <a:rPr lang="en" sz="1600">
                <a:solidFill>
                  <a:schemeClr val="dk2"/>
                </a:solidFill>
                <a:latin typeface="DM Sans"/>
                <a:ea typeface="DM Sans"/>
                <a:cs typeface="DM Sans"/>
                <a:sym typeface="DM Sans"/>
              </a:rPr>
              <a:t>Difference between target path and actual marker path</a:t>
            </a:r>
            <a:endParaRPr sz="1600">
              <a:solidFill>
                <a:schemeClr val="dk2"/>
              </a:solidFill>
              <a:latin typeface="DM Sans"/>
              <a:ea typeface="DM Sans"/>
              <a:cs typeface="DM Sans"/>
              <a:sym typeface="DM Sans"/>
            </a:endParaRPr>
          </a:p>
          <a:p>
            <a:pPr indent="-298450" lvl="1" marL="914400" rtl="0" algn="l">
              <a:lnSpc>
                <a:spcPct val="115000"/>
              </a:lnSpc>
              <a:spcBef>
                <a:spcPts val="0"/>
              </a:spcBef>
              <a:spcAft>
                <a:spcPts val="0"/>
              </a:spcAft>
              <a:buClr>
                <a:schemeClr val="hlink"/>
              </a:buClr>
              <a:buSzPts val="1100"/>
              <a:buChar char="○"/>
            </a:pPr>
            <a:r>
              <a:rPr lang="en" sz="1600">
                <a:solidFill>
                  <a:schemeClr val="dk2"/>
                </a:solidFill>
                <a:latin typeface="DM Sans"/>
                <a:ea typeface="DM Sans"/>
                <a:cs typeface="DM Sans"/>
                <a:sym typeface="DM Sans"/>
              </a:rPr>
              <a:t>PID control command used to reduce the difference</a:t>
            </a:r>
            <a:endParaRPr sz="1600">
              <a:solidFill>
                <a:schemeClr val="dk2"/>
              </a:solidFill>
              <a:latin typeface="DM Sans"/>
              <a:ea typeface="DM Sans"/>
              <a:cs typeface="DM Sans"/>
              <a:sym typeface="DM Sans"/>
            </a:endParaRPr>
          </a:p>
        </p:txBody>
      </p:sp>
      <p:pic>
        <p:nvPicPr>
          <p:cNvPr id="381" name="Google Shape;381;p47" title="IMG_9028_Original.jpg"/>
          <p:cNvPicPr preferRelativeResize="0"/>
          <p:nvPr/>
        </p:nvPicPr>
        <p:blipFill>
          <a:blip r:embed="rId3">
            <a:alphaModFix/>
          </a:blip>
          <a:stretch>
            <a:fillRect/>
          </a:stretch>
        </p:blipFill>
        <p:spPr>
          <a:xfrm>
            <a:off x="6768625" y="2048375"/>
            <a:ext cx="1985000" cy="1930751"/>
          </a:xfrm>
          <a:prstGeom prst="rect">
            <a:avLst/>
          </a:prstGeom>
          <a:noFill/>
          <a:ln>
            <a:noFill/>
          </a:ln>
        </p:spPr>
      </p:pic>
      <p:sp>
        <p:nvSpPr>
          <p:cNvPr id="382" name="Google Shape;382;p47"/>
          <p:cNvSpPr txBox="1"/>
          <p:nvPr/>
        </p:nvSpPr>
        <p:spPr>
          <a:xfrm>
            <a:off x="6714950" y="1801800"/>
            <a:ext cx="1435800" cy="5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latin typeface="DM Sans"/>
                <a:ea typeface="DM Sans"/>
                <a:cs typeface="DM Sans"/>
                <a:sym typeface="DM Sans"/>
              </a:rPr>
              <a:t>Coordinate Frames:</a:t>
            </a:r>
            <a:endParaRPr b="1" sz="1000">
              <a:solidFill>
                <a:schemeClr val="dk2"/>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4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389" name="Google Shape;389;p48"/>
          <p:cNvSpPr txBox="1"/>
          <p:nvPr/>
        </p:nvSpPr>
        <p:spPr>
          <a:xfrm>
            <a:off x="448875" y="405825"/>
            <a:ext cx="7573200" cy="8226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hlink"/>
              </a:buClr>
              <a:buSzPts val="1100"/>
              <a:buFont typeface="Arial"/>
              <a:buNone/>
            </a:pPr>
            <a:r>
              <a:rPr b="1" lang="en" sz="3450">
                <a:solidFill>
                  <a:schemeClr val="dk1"/>
                </a:solidFill>
                <a:latin typeface="Merriweather"/>
                <a:ea typeface="Merriweather"/>
                <a:cs typeface="Merriweather"/>
                <a:sym typeface="Merriweather"/>
              </a:rPr>
              <a:t>Method </a:t>
            </a:r>
            <a:endParaRPr b="1" sz="3600">
              <a:solidFill>
                <a:schemeClr val="dk2"/>
              </a:solidFill>
              <a:latin typeface="DM Sans"/>
              <a:ea typeface="DM Sans"/>
              <a:cs typeface="DM Sans"/>
              <a:sym typeface="DM Sans"/>
            </a:endParaRPr>
          </a:p>
        </p:txBody>
      </p:sp>
      <p:sp>
        <p:nvSpPr>
          <p:cNvPr id="390" name="Google Shape;390;p48"/>
          <p:cNvSpPr txBox="1"/>
          <p:nvPr/>
        </p:nvSpPr>
        <p:spPr>
          <a:xfrm>
            <a:off x="623825" y="1267175"/>
            <a:ext cx="7848600" cy="33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sz="700">
              <a:solidFill>
                <a:schemeClr val="dk2"/>
              </a:solidFill>
              <a:latin typeface="DM Sans"/>
              <a:ea typeface="DM Sans"/>
              <a:cs typeface="DM Sans"/>
              <a:sym typeface="DM Sans"/>
            </a:endParaRPr>
          </a:p>
          <a:p>
            <a:pPr indent="0" lvl="0" marL="0" marR="0" rtl="0" algn="l">
              <a:lnSpc>
                <a:spcPct val="100000"/>
              </a:lnSpc>
              <a:spcBef>
                <a:spcPts val="0"/>
              </a:spcBef>
              <a:spcAft>
                <a:spcPts val="0"/>
              </a:spcAft>
              <a:buNone/>
            </a:pPr>
            <a:r>
              <a:rPr lang="en" sz="2200">
                <a:solidFill>
                  <a:schemeClr val="dk2"/>
                </a:solidFill>
                <a:latin typeface="DM Sans"/>
                <a:ea typeface="DM Sans"/>
                <a:cs typeface="DM Sans"/>
                <a:sym typeface="DM Sans"/>
              </a:rPr>
              <a:t>Hardware</a:t>
            </a:r>
            <a:r>
              <a:rPr lang="en" sz="1500">
                <a:solidFill>
                  <a:schemeClr val="dk2"/>
                </a:solidFill>
                <a:latin typeface="DM Sans"/>
                <a:ea typeface="DM Sans"/>
                <a:cs typeface="DM Sans"/>
                <a:sym typeface="DM Sans"/>
              </a:rPr>
              <a:t>:</a:t>
            </a:r>
            <a:endParaRPr sz="15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a:buChar char="●"/>
            </a:pPr>
            <a:r>
              <a:rPr b="1" lang="en" sz="1500">
                <a:solidFill>
                  <a:schemeClr val="dk2"/>
                </a:solidFill>
                <a:latin typeface="DM Sans"/>
                <a:ea typeface="DM Sans"/>
                <a:cs typeface="DM Sans"/>
                <a:sym typeface="DM Sans"/>
              </a:rPr>
              <a:t>3-DOF leg</a:t>
            </a:r>
            <a:endParaRPr sz="15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Medium"/>
              <a:buChar char="●"/>
            </a:pPr>
            <a:r>
              <a:rPr b="1" lang="en" sz="1500">
                <a:solidFill>
                  <a:schemeClr val="dk2"/>
                </a:solidFill>
                <a:latin typeface="DM Sans"/>
                <a:ea typeface="DM Sans"/>
                <a:cs typeface="DM Sans"/>
                <a:sym typeface="DM Sans"/>
              </a:rPr>
              <a:t>SteadyWin GIM4305-10 </a:t>
            </a:r>
            <a:r>
              <a:rPr lang="en" sz="1500">
                <a:solidFill>
                  <a:schemeClr val="dk2"/>
                </a:solidFill>
                <a:latin typeface="DM Sans Medium"/>
                <a:ea typeface="DM Sans Medium"/>
                <a:cs typeface="DM Sans Medium"/>
                <a:sym typeface="DM Sans Medium"/>
              </a:rPr>
              <a:t>Planetary Reducer Motor, different from the previously </a:t>
            </a:r>
            <a:r>
              <a:rPr lang="en" sz="1500">
                <a:solidFill>
                  <a:schemeClr val="dk2"/>
                </a:solidFill>
                <a:latin typeface="DM Sans Medium"/>
                <a:ea typeface="DM Sans Medium"/>
                <a:cs typeface="DM Sans Medium"/>
                <a:sym typeface="DM Sans Medium"/>
              </a:rPr>
              <a:t>aforementioned</a:t>
            </a:r>
            <a:r>
              <a:rPr lang="en" sz="1500">
                <a:solidFill>
                  <a:schemeClr val="dk2"/>
                </a:solidFill>
                <a:latin typeface="DM Sans Medium"/>
                <a:ea typeface="DM Sans Medium"/>
                <a:cs typeface="DM Sans Medium"/>
                <a:sym typeface="DM Sans Medium"/>
              </a:rPr>
              <a:t> </a:t>
            </a:r>
            <a:r>
              <a:rPr b="1" lang="en" sz="1500">
                <a:solidFill>
                  <a:schemeClr val="dk2"/>
                </a:solidFill>
                <a:latin typeface="DM Sans"/>
                <a:ea typeface="DM Sans"/>
                <a:cs typeface="DM Sans"/>
                <a:sym typeface="DM Sans"/>
              </a:rPr>
              <a:t>BLDC motors</a:t>
            </a:r>
            <a:r>
              <a:rPr lang="en" sz="1500">
                <a:solidFill>
                  <a:schemeClr val="dk2"/>
                </a:solidFill>
                <a:latin typeface="DM Sans"/>
                <a:ea typeface="DM Sans"/>
                <a:cs typeface="DM Sans"/>
                <a:sym typeface="DM Sans"/>
              </a:rPr>
              <a:t> configured as </a:t>
            </a:r>
            <a:r>
              <a:rPr b="1" lang="en" sz="1500">
                <a:solidFill>
                  <a:schemeClr val="dk2"/>
                </a:solidFill>
                <a:latin typeface="DM Sans"/>
                <a:ea typeface="DM Sans"/>
                <a:cs typeface="DM Sans"/>
                <a:sym typeface="DM Sans"/>
              </a:rPr>
              <a:t>Quasi-Direct Drive (QDD) actuators</a:t>
            </a:r>
            <a:r>
              <a:rPr lang="en" sz="1500">
                <a:solidFill>
                  <a:schemeClr val="dk2"/>
                </a:solidFill>
                <a:latin typeface="DM Sans"/>
                <a:ea typeface="DM Sans"/>
                <a:cs typeface="DM Sans"/>
                <a:sym typeface="DM Sans"/>
              </a:rPr>
              <a:t>, low gear reduction.</a:t>
            </a:r>
            <a:endParaRPr sz="1500">
              <a:solidFill>
                <a:schemeClr val="dk2"/>
              </a:solidFill>
              <a:latin typeface="DM Sans Medium"/>
              <a:ea typeface="DM Sans Medium"/>
              <a:cs typeface="DM Sans Medium"/>
              <a:sym typeface="DM Sans Medium"/>
            </a:endParaRPr>
          </a:p>
          <a:p>
            <a:pPr indent="0" lvl="0" marL="0" rtl="0" algn="l">
              <a:lnSpc>
                <a:spcPct val="115000"/>
              </a:lnSpc>
              <a:spcBef>
                <a:spcPts val="1200"/>
              </a:spcBef>
              <a:spcAft>
                <a:spcPts val="0"/>
              </a:spcAft>
              <a:buNone/>
            </a:pPr>
            <a:r>
              <a:rPr lang="en" sz="2200">
                <a:solidFill>
                  <a:schemeClr val="dk2"/>
                </a:solidFill>
                <a:latin typeface="DM Sans"/>
                <a:ea typeface="DM Sans"/>
                <a:cs typeface="DM Sans"/>
                <a:sym typeface="DM Sans"/>
              </a:rPr>
              <a:t>General Control Class:</a:t>
            </a:r>
            <a:endParaRPr sz="1500">
              <a:solidFill>
                <a:schemeClr val="dk2"/>
              </a:solidFill>
              <a:latin typeface="DM Sans"/>
              <a:ea typeface="DM Sans"/>
              <a:cs typeface="DM Sans"/>
              <a:sym typeface="DM Sans"/>
            </a:endParaRPr>
          </a:p>
          <a:p>
            <a:pPr indent="-311150" lvl="0" marL="457200" rtl="0" algn="l">
              <a:lnSpc>
                <a:spcPct val="115000"/>
              </a:lnSpc>
              <a:spcBef>
                <a:spcPts val="1200"/>
              </a:spcBef>
              <a:spcAft>
                <a:spcPts val="0"/>
              </a:spcAft>
              <a:buClr>
                <a:schemeClr val="hlink"/>
              </a:buClr>
              <a:buSzPts val="1300"/>
              <a:buChar char="●"/>
            </a:pPr>
            <a:r>
              <a:rPr b="1" lang="en" sz="1500">
                <a:solidFill>
                  <a:schemeClr val="dk2"/>
                </a:solidFill>
                <a:latin typeface="DM Sans"/>
                <a:ea typeface="DM Sans"/>
                <a:cs typeface="DM Sans"/>
                <a:sym typeface="DM Sans"/>
              </a:rPr>
              <a:t>C</a:t>
            </a:r>
            <a:r>
              <a:rPr b="1" lang="en" sz="1500">
                <a:solidFill>
                  <a:schemeClr val="dk2"/>
                </a:solidFill>
                <a:latin typeface="DM Sans"/>
                <a:ea typeface="DM Sans"/>
                <a:cs typeface="DM Sans"/>
                <a:sym typeface="DM Sans"/>
              </a:rPr>
              <a:t>ascaded PID</a:t>
            </a:r>
            <a:endParaRPr b="1" sz="1500">
              <a:solidFill>
                <a:schemeClr val="dk2"/>
              </a:solidFill>
              <a:latin typeface="DM Sans"/>
              <a:ea typeface="DM Sans"/>
              <a:cs typeface="DM Sans"/>
              <a:sym typeface="DM Sans"/>
            </a:endParaRPr>
          </a:p>
          <a:p>
            <a:pPr indent="-323850" lvl="1" marL="1371600" rtl="0" algn="l">
              <a:lnSpc>
                <a:spcPct val="115000"/>
              </a:lnSpc>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IK controller</a:t>
            </a:r>
            <a:endParaRPr sz="1500">
              <a:solidFill>
                <a:schemeClr val="dk2"/>
              </a:solidFill>
              <a:latin typeface="DM Sans"/>
              <a:ea typeface="DM Sans"/>
              <a:cs typeface="DM Sans"/>
              <a:sym typeface="DM Sans"/>
            </a:endParaRPr>
          </a:p>
          <a:p>
            <a:pPr indent="-323850" lvl="1" marL="1371600" rtl="0" algn="l">
              <a:lnSpc>
                <a:spcPct val="115000"/>
              </a:lnSpc>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Trajectory controller</a:t>
            </a:r>
            <a:endParaRPr sz="1500">
              <a:solidFill>
                <a:schemeClr val="dk2"/>
              </a:solidFill>
              <a:latin typeface="DM Sans"/>
              <a:ea typeface="DM Sans"/>
              <a:cs typeface="DM Sans"/>
              <a:sym typeface="DM Sans"/>
            </a:endParaRPr>
          </a:p>
          <a:p>
            <a:pPr indent="0" lvl="0" marL="914400" rtl="0" algn="l">
              <a:lnSpc>
                <a:spcPct val="115000"/>
              </a:lnSpc>
              <a:spcBef>
                <a:spcPts val="1200"/>
              </a:spcBef>
              <a:spcAft>
                <a:spcPts val="0"/>
              </a:spcAft>
              <a:buNone/>
            </a:pPr>
            <a:r>
              <a:t/>
            </a:r>
            <a:endParaRPr sz="1500">
              <a:solidFill>
                <a:schemeClr val="dk2"/>
              </a:solidFill>
              <a:latin typeface="DM Sans"/>
              <a:ea typeface="DM Sans"/>
              <a:cs typeface="DM Sans"/>
              <a:sym typeface="DM Sans"/>
            </a:endParaRPr>
          </a:p>
          <a:p>
            <a:pPr indent="0" lvl="0" marL="0" marR="0" rtl="0" algn="l">
              <a:lnSpc>
                <a:spcPct val="100000"/>
              </a:lnSpc>
              <a:spcBef>
                <a:spcPts val="1200"/>
              </a:spcBef>
              <a:spcAft>
                <a:spcPts val="0"/>
              </a:spcAft>
              <a:buNone/>
            </a:pPr>
            <a:r>
              <a:t/>
            </a:r>
            <a:endParaRPr sz="2000">
              <a:solidFill>
                <a:schemeClr val="dk2"/>
              </a:solidFill>
              <a:latin typeface="DM Sans"/>
              <a:ea typeface="DM Sans"/>
              <a:cs typeface="DM Sans"/>
              <a:sym typeface="DM Sans"/>
            </a:endParaRPr>
          </a:p>
          <a:p>
            <a:pPr indent="0" lvl="0" marL="0" marR="0" rtl="0" algn="l">
              <a:lnSpc>
                <a:spcPct val="100000"/>
              </a:lnSpc>
              <a:spcBef>
                <a:spcPts val="0"/>
              </a:spcBef>
              <a:spcAft>
                <a:spcPts val="0"/>
              </a:spcAft>
              <a:buNone/>
            </a:pPr>
            <a:r>
              <a:t/>
            </a:r>
            <a:endParaRPr sz="1200">
              <a:solidFill>
                <a:schemeClr val="dk2"/>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 - </a:t>
            </a:r>
            <a:r>
              <a:rPr lang="en"/>
              <a:t>Control Architecture</a:t>
            </a:r>
            <a:endParaRPr/>
          </a:p>
        </p:txBody>
      </p:sp>
      <p:pic>
        <p:nvPicPr>
          <p:cNvPr id="396" name="Google Shape;396;p49"/>
          <p:cNvPicPr preferRelativeResize="0"/>
          <p:nvPr/>
        </p:nvPicPr>
        <p:blipFill rotWithShape="1">
          <a:blip r:embed="rId3">
            <a:alphaModFix/>
          </a:blip>
          <a:srcRect b="16353" l="0" r="0" t="0"/>
          <a:stretch/>
        </p:blipFill>
        <p:spPr>
          <a:xfrm>
            <a:off x="1688200" y="1017725"/>
            <a:ext cx="5450049" cy="1770474"/>
          </a:xfrm>
          <a:prstGeom prst="rect">
            <a:avLst/>
          </a:prstGeom>
          <a:noFill/>
          <a:ln>
            <a:noFill/>
          </a:ln>
        </p:spPr>
      </p:pic>
      <p:pic>
        <p:nvPicPr>
          <p:cNvPr id="397" name="Google Shape;397;p49"/>
          <p:cNvPicPr preferRelativeResize="0"/>
          <p:nvPr/>
        </p:nvPicPr>
        <p:blipFill>
          <a:blip r:embed="rId4">
            <a:alphaModFix/>
          </a:blip>
          <a:stretch>
            <a:fillRect/>
          </a:stretch>
        </p:blipFill>
        <p:spPr>
          <a:xfrm>
            <a:off x="521100" y="3056525"/>
            <a:ext cx="7784250" cy="1770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50"/>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404" name="Google Shape;404;p50"/>
          <p:cNvSpPr txBox="1"/>
          <p:nvPr/>
        </p:nvSpPr>
        <p:spPr>
          <a:xfrm>
            <a:off x="356250" y="689900"/>
            <a:ext cx="6033300" cy="42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DM Sans"/>
                <a:ea typeface="DM Sans"/>
                <a:cs typeface="DM Sans"/>
                <a:sym typeface="DM Sans"/>
              </a:rPr>
              <a:t>I</a:t>
            </a:r>
            <a:r>
              <a:rPr lang="en" sz="2400">
                <a:solidFill>
                  <a:schemeClr val="dk2"/>
                </a:solidFill>
                <a:latin typeface="DM Sans"/>
                <a:ea typeface="DM Sans"/>
                <a:cs typeface="DM Sans"/>
                <a:sym typeface="DM Sans"/>
              </a:rPr>
              <a:t>n lab we have implemented trotting gaits, PID control, and both forward and inverse kinematics, cascaded PID controllers combines these concepts to create a highly accurate and consistent system. </a:t>
            </a:r>
            <a:r>
              <a:rPr lang="en" sz="2400">
                <a:solidFill>
                  <a:schemeClr val="dk2"/>
                </a:solidFill>
                <a:latin typeface="DM Sans"/>
                <a:ea typeface="DM Sans"/>
                <a:cs typeface="DM Sans"/>
                <a:sym typeface="DM Sans"/>
              </a:rPr>
              <a:t>This cascaded PID controller was specifically chosen as some tests demonstrated in the article match tests and actions our project include such as:</a:t>
            </a:r>
            <a:endParaRPr sz="2400">
              <a:solidFill>
                <a:schemeClr val="dk2"/>
              </a:solidFill>
              <a:latin typeface="DM Sans"/>
              <a:ea typeface="DM Sans"/>
              <a:cs typeface="DM Sans"/>
              <a:sym typeface="DM Sans"/>
            </a:endParaRPr>
          </a:p>
          <a:p>
            <a:pPr indent="-381000" lvl="0" marL="457200" rtl="0" algn="l">
              <a:spcBef>
                <a:spcPts val="0"/>
              </a:spcBef>
              <a:spcAft>
                <a:spcPts val="0"/>
              </a:spcAft>
              <a:buClr>
                <a:schemeClr val="dk2"/>
              </a:buClr>
              <a:buSzPts val="2400"/>
              <a:buFont typeface="DM Sans"/>
              <a:buChar char="-"/>
            </a:pPr>
            <a:r>
              <a:rPr lang="en" sz="2400">
                <a:solidFill>
                  <a:schemeClr val="dk2"/>
                </a:solidFill>
                <a:latin typeface="DM Sans"/>
                <a:ea typeface="DM Sans"/>
                <a:cs typeface="DM Sans"/>
                <a:sym typeface="DM Sans"/>
              </a:rPr>
              <a:t>Trajectory tracking</a:t>
            </a:r>
            <a:endParaRPr sz="2400">
              <a:solidFill>
                <a:schemeClr val="dk2"/>
              </a:solidFill>
              <a:latin typeface="DM Sans"/>
              <a:ea typeface="DM Sans"/>
              <a:cs typeface="DM Sans"/>
              <a:sym typeface="DM Sans"/>
            </a:endParaRPr>
          </a:p>
          <a:p>
            <a:pPr indent="-381000" lvl="0" marL="457200" rtl="0" algn="l">
              <a:spcBef>
                <a:spcPts val="0"/>
              </a:spcBef>
              <a:spcAft>
                <a:spcPts val="0"/>
              </a:spcAft>
              <a:buClr>
                <a:schemeClr val="dk2"/>
              </a:buClr>
              <a:buSzPts val="2400"/>
              <a:buFont typeface="DM Sans"/>
              <a:buChar char="-"/>
            </a:pPr>
            <a:r>
              <a:rPr lang="en" sz="2400">
                <a:solidFill>
                  <a:schemeClr val="dk2"/>
                </a:solidFill>
                <a:latin typeface="DM Sans"/>
                <a:ea typeface="DM Sans"/>
                <a:cs typeface="DM Sans"/>
                <a:sym typeface="DM Sans"/>
              </a:rPr>
              <a:t>Drawing a circle</a:t>
            </a:r>
            <a:endParaRPr sz="2400">
              <a:solidFill>
                <a:schemeClr val="dk2"/>
              </a:solidFill>
              <a:latin typeface="DM Sans"/>
              <a:ea typeface="DM Sans"/>
              <a:cs typeface="DM Sans"/>
              <a:sym typeface="DM Sans"/>
            </a:endParaRPr>
          </a:p>
        </p:txBody>
      </p:sp>
      <p:sp>
        <p:nvSpPr>
          <p:cNvPr id="405" name="Google Shape;405;p50"/>
          <p:cNvSpPr txBox="1"/>
          <p:nvPr>
            <p:ph idx="4294967295" type="title"/>
          </p:nvPr>
        </p:nvSpPr>
        <p:spPr>
          <a:xfrm>
            <a:off x="197375" y="196725"/>
            <a:ext cx="6723600" cy="749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hlink"/>
              </a:buClr>
              <a:buSzPct val="31884"/>
              <a:buFont typeface="Arial"/>
              <a:buNone/>
            </a:pPr>
            <a:r>
              <a:rPr lang="en"/>
              <a:t>Method - Relation</a:t>
            </a:r>
            <a:endParaRPr/>
          </a:p>
          <a:p>
            <a:pPr indent="0" lvl="0" marL="0" rtl="0" algn="l">
              <a:spcBef>
                <a:spcPts val="0"/>
              </a:spcBef>
              <a:spcAft>
                <a:spcPts val="0"/>
              </a:spcAft>
              <a:buNone/>
            </a:pPr>
            <a:r>
              <a:t/>
            </a:r>
            <a:endParaRPr/>
          </a:p>
        </p:txBody>
      </p:sp>
      <p:pic>
        <p:nvPicPr>
          <p:cNvPr id="406" name="Google Shape;406;p50" title="Screenshot 2026-04-21 at 9.07.44 PM.png"/>
          <p:cNvPicPr preferRelativeResize="0"/>
          <p:nvPr/>
        </p:nvPicPr>
        <p:blipFill>
          <a:blip r:embed="rId3">
            <a:alphaModFix/>
          </a:blip>
          <a:stretch>
            <a:fillRect/>
          </a:stretch>
        </p:blipFill>
        <p:spPr>
          <a:xfrm>
            <a:off x="6389557" y="2904225"/>
            <a:ext cx="2648130" cy="1471188"/>
          </a:xfrm>
          <a:prstGeom prst="rect">
            <a:avLst/>
          </a:prstGeom>
          <a:noFill/>
          <a:ln>
            <a:noFill/>
          </a:ln>
        </p:spPr>
      </p:pic>
      <p:pic>
        <p:nvPicPr>
          <p:cNvPr id="407" name="Google Shape;407;p50" title="Screenshot 2026-04-21 at 9.08.22 PM.png"/>
          <p:cNvPicPr preferRelativeResize="0"/>
          <p:nvPr/>
        </p:nvPicPr>
        <p:blipFill>
          <a:blip r:embed="rId4">
            <a:alphaModFix/>
          </a:blip>
          <a:stretch>
            <a:fillRect/>
          </a:stretch>
        </p:blipFill>
        <p:spPr>
          <a:xfrm>
            <a:off x="7070857" y="968112"/>
            <a:ext cx="1966823" cy="16483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5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414" name="Google Shape;414;p51"/>
          <p:cNvSpPr txBox="1"/>
          <p:nvPr/>
        </p:nvSpPr>
        <p:spPr>
          <a:xfrm>
            <a:off x="362700" y="946125"/>
            <a:ext cx="4899900" cy="34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DM Sans"/>
                <a:ea typeface="DM Sans"/>
                <a:cs typeface="DM Sans"/>
                <a:sym typeface="DM Sans"/>
              </a:rPr>
              <a:t>One of the biggest problems in the article found using the cascaded PID is that although it is highly accurate, it is </a:t>
            </a:r>
            <a:r>
              <a:rPr lang="en" sz="2400">
                <a:solidFill>
                  <a:schemeClr val="dk2"/>
                </a:solidFill>
                <a:latin typeface="DM Sans"/>
                <a:ea typeface="DM Sans"/>
                <a:cs typeface="DM Sans"/>
                <a:sym typeface="DM Sans"/>
              </a:rPr>
              <a:t>susceptible</a:t>
            </a:r>
            <a:r>
              <a:rPr lang="en" sz="2400">
                <a:solidFill>
                  <a:schemeClr val="dk2"/>
                </a:solidFill>
                <a:latin typeface="DM Sans"/>
                <a:ea typeface="DM Sans"/>
                <a:cs typeface="DM Sans"/>
                <a:sym typeface="DM Sans"/>
              </a:rPr>
              <a:t> to oscillation still. To mitigate this in a real world environment we designed a foot specically designed to handle a pen going over uneven terrain.</a:t>
            </a:r>
            <a:endParaRPr sz="2400">
              <a:solidFill>
                <a:schemeClr val="dk2"/>
              </a:solidFill>
              <a:latin typeface="DM Sans"/>
              <a:ea typeface="DM Sans"/>
              <a:cs typeface="DM Sans"/>
              <a:sym typeface="DM Sans"/>
            </a:endParaRPr>
          </a:p>
        </p:txBody>
      </p:sp>
      <p:sp>
        <p:nvSpPr>
          <p:cNvPr id="415" name="Google Shape;415;p51"/>
          <p:cNvSpPr txBox="1"/>
          <p:nvPr>
            <p:ph idx="4294967295" type="title"/>
          </p:nvPr>
        </p:nvSpPr>
        <p:spPr>
          <a:xfrm>
            <a:off x="197375" y="196725"/>
            <a:ext cx="6723600" cy="749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hlink"/>
              </a:buClr>
              <a:buSzPct val="31884"/>
              <a:buFont typeface="Arial"/>
              <a:buNone/>
            </a:pPr>
            <a:r>
              <a:rPr lang="en"/>
              <a:t>Method - Hardware</a:t>
            </a:r>
            <a:endParaRPr/>
          </a:p>
          <a:p>
            <a:pPr indent="0" lvl="0" marL="0" rtl="0" algn="l">
              <a:spcBef>
                <a:spcPts val="0"/>
              </a:spcBef>
              <a:spcAft>
                <a:spcPts val="0"/>
              </a:spcAft>
              <a:buNone/>
            </a:pPr>
            <a:r>
              <a:t/>
            </a:r>
            <a:endParaRPr/>
          </a:p>
        </p:txBody>
      </p:sp>
      <p:pic>
        <p:nvPicPr>
          <p:cNvPr id="416" name="Google Shape;416;p51" title="IMG_0326.jpg"/>
          <p:cNvPicPr preferRelativeResize="0"/>
          <p:nvPr/>
        </p:nvPicPr>
        <p:blipFill>
          <a:blip r:embed="rId3">
            <a:alphaModFix/>
          </a:blip>
          <a:stretch>
            <a:fillRect/>
          </a:stretch>
        </p:blipFill>
        <p:spPr>
          <a:xfrm>
            <a:off x="5262454" y="946187"/>
            <a:ext cx="3650126" cy="34498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52"/>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423" name="Google Shape;423;p52"/>
          <p:cNvSpPr txBox="1"/>
          <p:nvPr>
            <p:ph idx="4294967295" type="title"/>
          </p:nvPr>
        </p:nvSpPr>
        <p:spPr>
          <a:xfrm>
            <a:off x="197375" y="196725"/>
            <a:ext cx="6723600" cy="749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hlink"/>
              </a:buClr>
              <a:buSzPct val="31884"/>
              <a:buFont typeface="Arial"/>
              <a:buNone/>
            </a:pPr>
            <a:r>
              <a:rPr lang="en"/>
              <a:t>Method - Hardware</a:t>
            </a:r>
            <a:endParaRPr/>
          </a:p>
          <a:p>
            <a:pPr indent="0" lvl="0" marL="0" rtl="0" algn="l">
              <a:spcBef>
                <a:spcPts val="0"/>
              </a:spcBef>
              <a:spcAft>
                <a:spcPts val="0"/>
              </a:spcAft>
              <a:buNone/>
            </a:pPr>
            <a:r>
              <a:t/>
            </a:r>
            <a:endParaRPr/>
          </a:p>
        </p:txBody>
      </p:sp>
      <p:pic>
        <p:nvPicPr>
          <p:cNvPr id="424" name="Google Shape;424;p52" title="IMG_0327.jpg"/>
          <p:cNvPicPr preferRelativeResize="0"/>
          <p:nvPr/>
        </p:nvPicPr>
        <p:blipFill>
          <a:blip r:embed="rId3">
            <a:alphaModFix/>
          </a:blip>
          <a:stretch>
            <a:fillRect/>
          </a:stretch>
        </p:blipFill>
        <p:spPr>
          <a:xfrm>
            <a:off x="197375" y="946125"/>
            <a:ext cx="4091990" cy="1625625"/>
          </a:xfrm>
          <a:prstGeom prst="rect">
            <a:avLst/>
          </a:prstGeom>
          <a:noFill/>
          <a:ln>
            <a:noFill/>
          </a:ln>
        </p:spPr>
      </p:pic>
      <p:cxnSp>
        <p:nvCxnSpPr>
          <p:cNvPr id="425" name="Google Shape;425;p52"/>
          <p:cNvCxnSpPr>
            <a:stCxn id="424" idx="2"/>
          </p:cNvCxnSpPr>
          <p:nvPr/>
        </p:nvCxnSpPr>
        <p:spPr>
          <a:xfrm>
            <a:off x="2243370" y="2571750"/>
            <a:ext cx="930000" cy="696300"/>
          </a:xfrm>
          <a:prstGeom prst="straightConnector1">
            <a:avLst/>
          </a:prstGeom>
          <a:noFill/>
          <a:ln cap="flat" cmpd="sng" w="38100">
            <a:solidFill>
              <a:schemeClr val="dk2"/>
            </a:solidFill>
            <a:prstDash val="solid"/>
            <a:round/>
            <a:headEnd len="med" w="med" type="none"/>
            <a:tailEnd len="med" w="med" type="triangle"/>
          </a:ln>
        </p:spPr>
      </p:cxnSp>
      <p:cxnSp>
        <p:nvCxnSpPr>
          <p:cNvPr id="426" name="Google Shape;426;p52"/>
          <p:cNvCxnSpPr>
            <a:stCxn id="424" idx="3"/>
          </p:cNvCxnSpPr>
          <p:nvPr/>
        </p:nvCxnSpPr>
        <p:spPr>
          <a:xfrm>
            <a:off x="4289365" y="1758937"/>
            <a:ext cx="850200" cy="433200"/>
          </a:xfrm>
          <a:prstGeom prst="straightConnector1">
            <a:avLst/>
          </a:prstGeom>
          <a:noFill/>
          <a:ln cap="flat" cmpd="sng" w="38100">
            <a:solidFill>
              <a:schemeClr val="dk2"/>
            </a:solidFill>
            <a:prstDash val="solid"/>
            <a:round/>
            <a:headEnd len="med" w="med" type="none"/>
            <a:tailEnd len="med" w="med" type="triangle"/>
          </a:ln>
        </p:spPr>
      </p:cxnSp>
      <p:pic>
        <p:nvPicPr>
          <p:cNvPr id="427" name="Google Shape;427;p52" title="pupper4.PNG"/>
          <p:cNvPicPr preferRelativeResize="0"/>
          <p:nvPr/>
        </p:nvPicPr>
        <p:blipFill>
          <a:blip r:embed="rId4">
            <a:alphaModFix/>
          </a:blip>
          <a:stretch>
            <a:fillRect/>
          </a:stretch>
        </p:blipFill>
        <p:spPr>
          <a:xfrm>
            <a:off x="5626352" y="784975"/>
            <a:ext cx="2105949" cy="1786774"/>
          </a:xfrm>
          <a:prstGeom prst="rect">
            <a:avLst/>
          </a:prstGeom>
          <a:noFill/>
          <a:ln>
            <a:noFill/>
          </a:ln>
        </p:spPr>
      </p:pic>
      <p:pic>
        <p:nvPicPr>
          <p:cNvPr id="428" name="Google Shape;428;p52" title="pupper1.PNG"/>
          <p:cNvPicPr preferRelativeResize="0"/>
          <p:nvPr/>
        </p:nvPicPr>
        <p:blipFill>
          <a:blip r:embed="rId5">
            <a:alphaModFix/>
          </a:blip>
          <a:stretch>
            <a:fillRect/>
          </a:stretch>
        </p:blipFill>
        <p:spPr>
          <a:xfrm>
            <a:off x="2256175" y="3480754"/>
            <a:ext cx="2606001" cy="1493471"/>
          </a:xfrm>
          <a:prstGeom prst="rect">
            <a:avLst/>
          </a:prstGeom>
          <a:noFill/>
          <a:ln>
            <a:noFill/>
          </a:ln>
        </p:spPr>
      </p:pic>
      <p:pic>
        <p:nvPicPr>
          <p:cNvPr id="429" name="Google Shape;429;p52" title="pupper2.PNG"/>
          <p:cNvPicPr preferRelativeResize="0"/>
          <p:nvPr/>
        </p:nvPicPr>
        <p:blipFill>
          <a:blip r:embed="rId6">
            <a:alphaModFix/>
          </a:blip>
          <a:stretch>
            <a:fillRect/>
          </a:stretch>
        </p:blipFill>
        <p:spPr>
          <a:xfrm>
            <a:off x="5626351" y="3112199"/>
            <a:ext cx="1801032" cy="1862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5" name="Google Shape;435;p53"/>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436" name="Google Shape;436;p53"/>
          <p:cNvSpPr txBox="1"/>
          <p:nvPr/>
        </p:nvSpPr>
        <p:spPr>
          <a:xfrm>
            <a:off x="448875" y="405825"/>
            <a:ext cx="4948800" cy="8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dk2"/>
                </a:solidFill>
                <a:latin typeface="DM Sans"/>
                <a:ea typeface="DM Sans"/>
                <a:cs typeface="DM Sans"/>
                <a:sym typeface="DM Sans"/>
              </a:rPr>
              <a:t>Experiment &amp; Results</a:t>
            </a:r>
            <a:endParaRPr b="1" sz="3600">
              <a:solidFill>
                <a:schemeClr val="dk2"/>
              </a:solidFill>
              <a:latin typeface="DM Sans"/>
              <a:ea typeface="DM Sans"/>
              <a:cs typeface="DM Sans"/>
              <a:sym typeface="DM Sans"/>
            </a:endParaRPr>
          </a:p>
        </p:txBody>
      </p:sp>
      <p:sp>
        <p:nvSpPr>
          <p:cNvPr id="437" name="Google Shape;437;p53"/>
          <p:cNvSpPr txBox="1"/>
          <p:nvPr/>
        </p:nvSpPr>
        <p:spPr>
          <a:xfrm>
            <a:off x="623825" y="1675575"/>
            <a:ext cx="7848600" cy="29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hlink"/>
              </a:buClr>
              <a:buSzPts val="1100"/>
              <a:buFont typeface="Arial"/>
              <a:buNone/>
            </a:pPr>
            <a:r>
              <a:rPr lang="en" sz="1700">
                <a:solidFill>
                  <a:schemeClr val="dk2"/>
                </a:solidFill>
                <a:latin typeface="DM Sans"/>
                <a:ea typeface="DM Sans"/>
                <a:cs typeface="DM Sans"/>
                <a:sym typeface="DM Sans"/>
              </a:rPr>
              <a:t>Experiments Conducted:</a:t>
            </a:r>
            <a:endParaRPr sz="1700">
              <a:solidFill>
                <a:schemeClr val="dk2"/>
              </a:solidFill>
              <a:latin typeface="DM Sans"/>
              <a:ea typeface="DM Sans"/>
              <a:cs typeface="DM Sans"/>
              <a:sym typeface="DM Sans"/>
            </a:endParaRPr>
          </a:p>
          <a:p>
            <a:pPr indent="-304800" lvl="0" marL="457200" rtl="0" algn="l">
              <a:lnSpc>
                <a:spcPct val="115000"/>
              </a:lnSpc>
              <a:spcBef>
                <a:spcPts val="1200"/>
              </a:spcBef>
              <a:spcAft>
                <a:spcPts val="0"/>
              </a:spcAft>
              <a:buClr>
                <a:schemeClr val="hlink"/>
              </a:buClr>
              <a:buSzPts val="1200"/>
              <a:buChar char="●"/>
            </a:pPr>
            <a:r>
              <a:rPr lang="en">
                <a:solidFill>
                  <a:schemeClr val="dk2"/>
                </a:solidFill>
                <a:latin typeface="DM Sans"/>
                <a:ea typeface="DM Sans"/>
                <a:cs typeface="DM Sans"/>
                <a:sym typeface="DM Sans"/>
              </a:rPr>
              <a:t>Validated in both </a:t>
            </a:r>
            <a:r>
              <a:rPr b="1" lang="en">
                <a:solidFill>
                  <a:schemeClr val="dk2"/>
                </a:solidFill>
                <a:latin typeface="DM Sans"/>
                <a:ea typeface="DM Sans"/>
                <a:cs typeface="DM Sans"/>
                <a:sym typeface="DM Sans"/>
              </a:rPr>
              <a:t>RViz/Python</a:t>
            </a:r>
            <a:r>
              <a:rPr lang="en">
                <a:solidFill>
                  <a:schemeClr val="dk2"/>
                </a:solidFill>
                <a:latin typeface="DM Sans"/>
                <a:ea typeface="DM Sans"/>
                <a:cs typeface="DM Sans"/>
                <a:sym typeface="DM Sans"/>
              </a:rPr>
              <a:t> simulation and on </a:t>
            </a:r>
            <a:r>
              <a:rPr b="1" lang="en">
                <a:solidFill>
                  <a:schemeClr val="dk2"/>
                </a:solidFill>
                <a:latin typeface="DM Sans"/>
                <a:ea typeface="DM Sans"/>
                <a:cs typeface="DM Sans"/>
                <a:sym typeface="DM Sans"/>
              </a:rPr>
              <a:t>Pupper</a:t>
            </a:r>
            <a:endParaRPr>
              <a:solidFill>
                <a:schemeClr val="dk2"/>
              </a:solidFill>
              <a:latin typeface="DM Sans"/>
              <a:ea typeface="DM Sans"/>
              <a:cs typeface="DM Sans"/>
              <a:sym typeface="DM Sans"/>
            </a:endParaRPr>
          </a:p>
          <a:p>
            <a:pPr indent="-304800" lvl="0" marL="457200" rtl="0" algn="l">
              <a:lnSpc>
                <a:spcPct val="115000"/>
              </a:lnSpc>
              <a:spcBef>
                <a:spcPts val="0"/>
              </a:spcBef>
              <a:spcAft>
                <a:spcPts val="0"/>
              </a:spcAft>
              <a:buClr>
                <a:schemeClr val="hlink"/>
              </a:buClr>
              <a:buSzPts val="1200"/>
              <a:buChar char="●"/>
            </a:pPr>
            <a:r>
              <a:rPr lang="en">
                <a:solidFill>
                  <a:schemeClr val="dk2"/>
                </a:solidFill>
                <a:latin typeface="DM Sans"/>
                <a:ea typeface="DM Sans"/>
                <a:cs typeface="DM Sans"/>
                <a:sym typeface="DM Sans"/>
              </a:rPr>
              <a:t>Two trajectories tested:</a:t>
            </a:r>
            <a:endParaRPr>
              <a:solidFill>
                <a:schemeClr val="dk2"/>
              </a:solidFill>
              <a:latin typeface="DM Sans"/>
              <a:ea typeface="DM Sans"/>
              <a:cs typeface="DM Sans"/>
              <a:sym typeface="DM Sans"/>
            </a:endParaRPr>
          </a:p>
          <a:p>
            <a:pPr indent="-304800" lvl="1" marL="914400" rtl="0" algn="l">
              <a:lnSpc>
                <a:spcPct val="115000"/>
              </a:lnSpc>
              <a:spcBef>
                <a:spcPts val="0"/>
              </a:spcBef>
              <a:spcAft>
                <a:spcPts val="0"/>
              </a:spcAft>
              <a:buClr>
                <a:schemeClr val="hlink"/>
              </a:buClr>
              <a:buSzPts val="1200"/>
              <a:buChar char="○"/>
            </a:pPr>
            <a:r>
              <a:rPr b="1" lang="en">
                <a:solidFill>
                  <a:schemeClr val="dk2"/>
                </a:solidFill>
                <a:latin typeface="DM Sans"/>
                <a:ea typeface="DM Sans"/>
                <a:cs typeface="DM Sans"/>
                <a:sym typeface="DM Sans"/>
              </a:rPr>
              <a:t>Circle</a:t>
            </a:r>
            <a:endParaRPr>
              <a:solidFill>
                <a:schemeClr val="dk2"/>
              </a:solidFill>
              <a:latin typeface="DM Sans"/>
              <a:ea typeface="DM Sans"/>
              <a:cs typeface="DM Sans"/>
              <a:sym typeface="DM Sans"/>
            </a:endParaRPr>
          </a:p>
          <a:p>
            <a:pPr indent="-304800" lvl="1" marL="914400" rtl="0" algn="l">
              <a:lnSpc>
                <a:spcPct val="115000"/>
              </a:lnSpc>
              <a:spcBef>
                <a:spcPts val="0"/>
              </a:spcBef>
              <a:spcAft>
                <a:spcPts val="0"/>
              </a:spcAft>
              <a:buClr>
                <a:schemeClr val="hlink"/>
              </a:buClr>
              <a:buSzPts val="1200"/>
              <a:buChar char="○"/>
            </a:pPr>
            <a:r>
              <a:rPr b="1" lang="en">
                <a:solidFill>
                  <a:schemeClr val="dk2"/>
                </a:solidFill>
                <a:latin typeface="DM Sans"/>
                <a:ea typeface="DM Sans"/>
                <a:cs typeface="DM Sans"/>
                <a:sym typeface="DM Sans"/>
              </a:rPr>
              <a:t>Star</a:t>
            </a:r>
            <a:endParaRPr>
              <a:solidFill>
                <a:schemeClr val="dk2"/>
              </a:solidFill>
              <a:latin typeface="DM Sans"/>
              <a:ea typeface="DM Sans"/>
              <a:cs typeface="DM Sans"/>
              <a:sym typeface="DM Sans"/>
            </a:endParaRPr>
          </a:p>
          <a:p>
            <a:pPr indent="0" lvl="0" marL="0" rtl="0" algn="l">
              <a:lnSpc>
                <a:spcPct val="115000"/>
              </a:lnSpc>
              <a:spcBef>
                <a:spcPts val="1200"/>
              </a:spcBef>
              <a:spcAft>
                <a:spcPts val="0"/>
              </a:spcAft>
              <a:buClr>
                <a:schemeClr val="hlink"/>
              </a:buClr>
              <a:buSzPts val="1100"/>
              <a:buFont typeface="Arial"/>
              <a:buNone/>
            </a:pPr>
            <a:r>
              <a:rPr lang="en" sz="1900">
                <a:solidFill>
                  <a:schemeClr val="dk2"/>
                </a:solidFill>
                <a:latin typeface="DM Sans"/>
                <a:ea typeface="DM Sans"/>
                <a:cs typeface="DM Sans"/>
                <a:sym typeface="DM Sans"/>
              </a:rPr>
              <a:t>How Data Was Obtained:</a:t>
            </a:r>
            <a:endParaRPr sz="1900">
              <a:solidFill>
                <a:schemeClr val="dk2"/>
              </a:solidFill>
              <a:latin typeface="DM Sans"/>
              <a:ea typeface="DM Sans"/>
              <a:cs typeface="DM Sans"/>
              <a:sym typeface="DM Sans"/>
            </a:endParaRPr>
          </a:p>
          <a:p>
            <a:pPr indent="-304800" lvl="0" marL="457200" rtl="0" algn="l">
              <a:lnSpc>
                <a:spcPct val="115000"/>
              </a:lnSpc>
              <a:spcBef>
                <a:spcPts val="1200"/>
              </a:spcBef>
              <a:spcAft>
                <a:spcPts val="0"/>
              </a:spcAft>
              <a:buClr>
                <a:schemeClr val="hlink"/>
              </a:buClr>
              <a:buSzPts val="1200"/>
              <a:buChar char="●"/>
            </a:pPr>
            <a:r>
              <a:rPr b="1" lang="en">
                <a:solidFill>
                  <a:schemeClr val="dk2"/>
                </a:solidFill>
                <a:latin typeface="DM Sans"/>
                <a:ea typeface="DM Sans"/>
                <a:cs typeface="DM Sans"/>
                <a:sym typeface="DM Sans"/>
              </a:rPr>
              <a:t>Joint states </a:t>
            </a:r>
            <a:r>
              <a:rPr lang="en">
                <a:solidFill>
                  <a:schemeClr val="dk2"/>
                </a:solidFill>
                <a:latin typeface="DM Sans"/>
                <a:ea typeface="DM Sans"/>
                <a:cs typeface="DM Sans"/>
                <a:sym typeface="DM Sans"/>
              </a:rPr>
              <a:t>logged from</a:t>
            </a:r>
            <a:r>
              <a:rPr b="1" lang="en">
                <a:solidFill>
                  <a:schemeClr val="dk2"/>
                </a:solidFill>
                <a:latin typeface="DM Sans"/>
                <a:ea typeface="DM Sans"/>
                <a:cs typeface="DM Sans"/>
                <a:sym typeface="DM Sans"/>
              </a:rPr>
              <a:t> /joint_states</a:t>
            </a:r>
            <a:r>
              <a:rPr lang="en">
                <a:solidFill>
                  <a:schemeClr val="dk2"/>
                </a:solidFill>
                <a:latin typeface="DM Sans"/>
                <a:ea typeface="DM Sans"/>
                <a:cs typeface="DM Sans"/>
                <a:sym typeface="DM Sans"/>
              </a:rPr>
              <a:t> topic</a:t>
            </a:r>
            <a:endParaRPr>
              <a:solidFill>
                <a:schemeClr val="dk2"/>
              </a:solidFill>
              <a:latin typeface="DM Sans"/>
              <a:ea typeface="DM Sans"/>
              <a:cs typeface="DM Sans"/>
              <a:sym typeface="DM Sans"/>
            </a:endParaRPr>
          </a:p>
          <a:p>
            <a:pPr indent="-298450" lvl="0" marL="457200" rtl="0" algn="l">
              <a:lnSpc>
                <a:spcPct val="115000"/>
              </a:lnSpc>
              <a:spcBef>
                <a:spcPts val="0"/>
              </a:spcBef>
              <a:spcAft>
                <a:spcPts val="0"/>
              </a:spcAft>
              <a:buClr>
                <a:schemeClr val="dk2"/>
              </a:buClr>
              <a:buSzPts val="1100"/>
              <a:buFont typeface="DM Sans"/>
              <a:buChar char="●"/>
            </a:pPr>
            <a:r>
              <a:rPr b="1" lang="en">
                <a:solidFill>
                  <a:schemeClr val="dk2"/>
                </a:solidFill>
                <a:latin typeface="DM Sans"/>
                <a:ea typeface="DM Sans"/>
                <a:cs typeface="DM Sans"/>
                <a:sym typeface="DM Sans"/>
              </a:rPr>
              <a:t>Control signals</a:t>
            </a:r>
            <a:r>
              <a:rPr lang="en">
                <a:solidFill>
                  <a:schemeClr val="dk2"/>
                </a:solidFill>
                <a:latin typeface="DM Sans"/>
                <a:ea typeface="DM Sans"/>
                <a:cs typeface="DM Sans"/>
                <a:sym typeface="DM Sans"/>
              </a:rPr>
              <a:t> were interpreted as </a:t>
            </a:r>
            <a:r>
              <a:rPr b="1" lang="en">
                <a:solidFill>
                  <a:schemeClr val="dk2"/>
                </a:solidFill>
                <a:latin typeface="DM Sans"/>
                <a:ea typeface="DM Sans"/>
                <a:cs typeface="DM Sans"/>
                <a:sym typeface="DM Sans"/>
              </a:rPr>
              <a:t>Torque</a:t>
            </a:r>
            <a:endParaRPr b="1">
              <a:solidFill>
                <a:schemeClr val="dk2"/>
              </a:solidFill>
              <a:latin typeface="DM Sans"/>
              <a:ea typeface="DM Sans"/>
              <a:cs typeface="DM Sans"/>
              <a:sym typeface="DM Sans"/>
            </a:endParaRPr>
          </a:p>
          <a:p>
            <a:pPr indent="-304800" lvl="0" marL="457200" rtl="0" algn="l">
              <a:lnSpc>
                <a:spcPct val="115000"/>
              </a:lnSpc>
              <a:spcBef>
                <a:spcPts val="0"/>
              </a:spcBef>
              <a:spcAft>
                <a:spcPts val="0"/>
              </a:spcAft>
              <a:buClr>
                <a:schemeClr val="hlink"/>
              </a:buClr>
              <a:buSzPts val="1200"/>
              <a:buChar char="●"/>
            </a:pPr>
            <a:r>
              <a:rPr b="1" lang="en">
                <a:solidFill>
                  <a:schemeClr val="dk2"/>
                </a:solidFill>
                <a:latin typeface="DM Sans"/>
                <a:ea typeface="DM Sans"/>
                <a:cs typeface="DM Sans"/>
                <a:sym typeface="DM Sans"/>
              </a:rPr>
              <a:t>Foot tip position </a:t>
            </a:r>
            <a:r>
              <a:rPr lang="en">
                <a:solidFill>
                  <a:schemeClr val="dk2"/>
                </a:solidFill>
                <a:latin typeface="DM Sans"/>
                <a:ea typeface="DM Sans"/>
                <a:cs typeface="DM Sans"/>
                <a:sym typeface="DM Sans"/>
              </a:rPr>
              <a:t>computed via </a:t>
            </a:r>
            <a:r>
              <a:rPr b="1" lang="en">
                <a:solidFill>
                  <a:schemeClr val="dk2"/>
                </a:solidFill>
                <a:latin typeface="DM Sans"/>
                <a:ea typeface="DM Sans"/>
                <a:cs typeface="DM Sans"/>
                <a:sym typeface="DM Sans"/>
              </a:rPr>
              <a:t>forward kinematics</a:t>
            </a:r>
            <a:r>
              <a:rPr lang="en">
                <a:solidFill>
                  <a:schemeClr val="dk2"/>
                </a:solidFill>
                <a:latin typeface="DM Sans"/>
                <a:ea typeface="DM Sans"/>
                <a:cs typeface="DM Sans"/>
                <a:sym typeface="DM Sans"/>
              </a:rPr>
              <a:t> </a:t>
            </a:r>
            <a:endParaRPr>
              <a:solidFill>
                <a:schemeClr val="dk2"/>
              </a:solidFill>
              <a:latin typeface="DM Sans"/>
              <a:ea typeface="DM Sans"/>
              <a:cs typeface="DM Sans"/>
              <a:sym typeface="DM Sans"/>
            </a:endParaRPr>
          </a:p>
          <a:p>
            <a:pPr indent="-304800" lvl="0" marL="457200" rtl="0" algn="l">
              <a:lnSpc>
                <a:spcPct val="115000"/>
              </a:lnSpc>
              <a:spcBef>
                <a:spcPts val="0"/>
              </a:spcBef>
              <a:spcAft>
                <a:spcPts val="0"/>
              </a:spcAft>
              <a:buClr>
                <a:schemeClr val="hlink"/>
              </a:buClr>
              <a:buSzPts val="1200"/>
              <a:buChar char="●"/>
            </a:pPr>
            <a:r>
              <a:rPr b="1" lang="en">
                <a:solidFill>
                  <a:schemeClr val="dk2"/>
                </a:solidFill>
                <a:latin typeface="DM Sans"/>
                <a:ea typeface="DM Sans"/>
                <a:cs typeface="DM Sans"/>
                <a:sym typeface="DM Sans"/>
              </a:rPr>
              <a:t>Interpreted using RMSE</a:t>
            </a:r>
            <a:endParaRPr b="1">
              <a:solidFill>
                <a:schemeClr val="dk2"/>
              </a:solidFill>
              <a:latin typeface="DM Sans"/>
              <a:ea typeface="DM Sans"/>
              <a:cs typeface="DM Sans"/>
              <a:sym typeface="DM Sans"/>
            </a:endParaRPr>
          </a:p>
        </p:txBody>
      </p:sp>
      <p:pic>
        <p:nvPicPr>
          <p:cNvPr id="438" name="Google Shape;438;p53"/>
          <p:cNvPicPr preferRelativeResize="0"/>
          <p:nvPr/>
        </p:nvPicPr>
        <p:blipFill>
          <a:blip r:embed="rId3">
            <a:alphaModFix/>
          </a:blip>
          <a:stretch>
            <a:fillRect/>
          </a:stretch>
        </p:blipFill>
        <p:spPr>
          <a:xfrm>
            <a:off x="5397675" y="2736568"/>
            <a:ext cx="3471650" cy="115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54" title="ik_accuracy.png"/>
          <p:cNvPicPr preferRelativeResize="0"/>
          <p:nvPr/>
        </p:nvPicPr>
        <p:blipFill>
          <a:blip r:embed="rId3">
            <a:alphaModFix/>
          </a:blip>
          <a:stretch>
            <a:fillRect/>
          </a:stretch>
        </p:blipFill>
        <p:spPr>
          <a:xfrm>
            <a:off x="1526000" y="2571750"/>
            <a:ext cx="6248526" cy="2403283"/>
          </a:xfrm>
          <a:prstGeom prst="rect">
            <a:avLst/>
          </a:prstGeom>
          <a:noFill/>
          <a:ln>
            <a:noFill/>
          </a:ln>
        </p:spPr>
      </p:pic>
      <p:pic>
        <p:nvPicPr>
          <p:cNvPr id="444" name="Google Shape;444;p54" title="planned_paths.png"/>
          <p:cNvPicPr preferRelativeResize="0"/>
          <p:nvPr/>
        </p:nvPicPr>
        <p:blipFill>
          <a:blip r:embed="rId4">
            <a:alphaModFix/>
          </a:blip>
          <a:stretch>
            <a:fillRect/>
          </a:stretch>
        </p:blipFill>
        <p:spPr>
          <a:xfrm>
            <a:off x="1816000" y="196450"/>
            <a:ext cx="5668548" cy="21802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55" title="pid_ee_circle.png"/>
          <p:cNvPicPr preferRelativeResize="0"/>
          <p:nvPr/>
        </p:nvPicPr>
        <p:blipFill>
          <a:blip r:embed="rId3">
            <a:alphaModFix/>
          </a:blip>
          <a:stretch>
            <a:fillRect/>
          </a:stretch>
        </p:blipFill>
        <p:spPr>
          <a:xfrm>
            <a:off x="870275" y="781462"/>
            <a:ext cx="3580576" cy="3580576"/>
          </a:xfrm>
          <a:prstGeom prst="rect">
            <a:avLst/>
          </a:prstGeom>
          <a:noFill/>
          <a:ln>
            <a:noFill/>
          </a:ln>
        </p:spPr>
      </p:pic>
      <p:pic>
        <p:nvPicPr>
          <p:cNvPr id="450" name="Google Shape;450;p55" title="pid_ee_star.png"/>
          <p:cNvPicPr preferRelativeResize="0"/>
          <p:nvPr/>
        </p:nvPicPr>
        <p:blipFill>
          <a:blip r:embed="rId4">
            <a:alphaModFix/>
          </a:blip>
          <a:stretch>
            <a:fillRect/>
          </a:stretch>
        </p:blipFill>
        <p:spPr>
          <a:xfrm>
            <a:off x="4669450" y="781463"/>
            <a:ext cx="3580576" cy="35805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p56" title="pid_simulation_circle.png"/>
          <p:cNvPicPr preferRelativeResize="0"/>
          <p:nvPr/>
        </p:nvPicPr>
        <p:blipFill>
          <a:blip r:embed="rId3">
            <a:alphaModFix/>
          </a:blip>
          <a:stretch>
            <a:fillRect/>
          </a:stretch>
        </p:blipFill>
        <p:spPr>
          <a:xfrm>
            <a:off x="105050" y="1565150"/>
            <a:ext cx="4254752" cy="3481174"/>
          </a:xfrm>
          <a:prstGeom prst="rect">
            <a:avLst/>
          </a:prstGeom>
          <a:noFill/>
          <a:ln>
            <a:noFill/>
          </a:ln>
        </p:spPr>
      </p:pic>
      <p:pic>
        <p:nvPicPr>
          <p:cNvPr id="456" name="Google Shape;456;p56" title="pid_simulation_star.png"/>
          <p:cNvPicPr preferRelativeResize="0"/>
          <p:nvPr/>
        </p:nvPicPr>
        <p:blipFill>
          <a:blip r:embed="rId4">
            <a:alphaModFix/>
          </a:blip>
          <a:stretch>
            <a:fillRect/>
          </a:stretch>
        </p:blipFill>
        <p:spPr>
          <a:xfrm>
            <a:off x="4442800" y="71000"/>
            <a:ext cx="4622302" cy="3781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57" title="Simulation_Untuned_PID.mp4">
            <a:hlinkClick r:id="rId3"/>
          </p:cNvPr>
          <p:cNvPicPr preferRelativeResize="0"/>
          <p:nvPr/>
        </p:nvPicPr>
        <p:blipFill>
          <a:blip r:embed="rId4">
            <a:alphaModFix/>
          </a:blip>
          <a:stretch>
            <a:fillRect/>
          </a:stretch>
        </p:blipFill>
        <p:spPr>
          <a:xfrm>
            <a:off x="454625" y="0"/>
            <a:ext cx="8234760"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58" title="planned_paths.png"/>
          <p:cNvPicPr preferRelativeResize="0"/>
          <p:nvPr/>
        </p:nvPicPr>
        <p:blipFill>
          <a:blip r:embed="rId3">
            <a:alphaModFix/>
          </a:blip>
          <a:stretch>
            <a:fillRect/>
          </a:stretch>
        </p:blipFill>
        <p:spPr>
          <a:xfrm>
            <a:off x="1002825" y="2366700"/>
            <a:ext cx="7103801" cy="2732226"/>
          </a:xfrm>
          <a:prstGeom prst="rect">
            <a:avLst/>
          </a:prstGeom>
          <a:noFill/>
          <a:ln>
            <a:noFill/>
          </a:ln>
        </p:spPr>
      </p:pic>
      <p:pic>
        <p:nvPicPr>
          <p:cNvPr id="467" name="Google Shape;467;p58" title="planned_paths.png"/>
          <p:cNvPicPr preferRelativeResize="0"/>
          <p:nvPr/>
        </p:nvPicPr>
        <p:blipFill>
          <a:blip r:embed="rId4">
            <a:alphaModFix/>
          </a:blip>
          <a:stretch>
            <a:fillRect/>
          </a:stretch>
        </p:blipFill>
        <p:spPr>
          <a:xfrm>
            <a:off x="1567975" y="0"/>
            <a:ext cx="5973498" cy="2297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p59" title="pid_ee_circle.png"/>
          <p:cNvPicPr preferRelativeResize="0"/>
          <p:nvPr/>
        </p:nvPicPr>
        <p:blipFill>
          <a:blip r:embed="rId3">
            <a:alphaModFix/>
          </a:blip>
          <a:stretch>
            <a:fillRect/>
          </a:stretch>
        </p:blipFill>
        <p:spPr>
          <a:xfrm>
            <a:off x="0" y="0"/>
            <a:ext cx="2527551" cy="2527551"/>
          </a:xfrm>
          <a:prstGeom prst="rect">
            <a:avLst/>
          </a:prstGeom>
          <a:noFill/>
          <a:ln>
            <a:noFill/>
          </a:ln>
        </p:spPr>
      </p:pic>
      <p:pic>
        <p:nvPicPr>
          <p:cNvPr id="473" name="Google Shape;473;p59" title="pid_ee_star.png"/>
          <p:cNvPicPr preferRelativeResize="0"/>
          <p:nvPr/>
        </p:nvPicPr>
        <p:blipFill>
          <a:blip r:embed="rId4">
            <a:alphaModFix/>
          </a:blip>
          <a:stretch>
            <a:fillRect/>
          </a:stretch>
        </p:blipFill>
        <p:spPr>
          <a:xfrm>
            <a:off x="0" y="2571750"/>
            <a:ext cx="2571750" cy="2571750"/>
          </a:xfrm>
          <a:prstGeom prst="rect">
            <a:avLst/>
          </a:prstGeom>
          <a:noFill/>
          <a:ln>
            <a:noFill/>
          </a:ln>
        </p:spPr>
      </p:pic>
      <p:pic>
        <p:nvPicPr>
          <p:cNvPr id="474" name="Google Shape;474;p59" title="pid_simulation_circle.png"/>
          <p:cNvPicPr preferRelativeResize="0"/>
          <p:nvPr/>
        </p:nvPicPr>
        <p:blipFill>
          <a:blip r:embed="rId5">
            <a:alphaModFix/>
          </a:blip>
          <a:stretch>
            <a:fillRect/>
          </a:stretch>
        </p:blipFill>
        <p:spPr>
          <a:xfrm>
            <a:off x="2527550" y="0"/>
            <a:ext cx="3395201" cy="2777898"/>
          </a:xfrm>
          <a:prstGeom prst="rect">
            <a:avLst/>
          </a:prstGeom>
          <a:noFill/>
          <a:ln>
            <a:noFill/>
          </a:ln>
        </p:spPr>
      </p:pic>
      <p:pic>
        <p:nvPicPr>
          <p:cNvPr id="475" name="Google Shape;475;p59" title="pid_simulation_star.png"/>
          <p:cNvPicPr preferRelativeResize="0"/>
          <p:nvPr/>
        </p:nvPicPr>
        <p:blipFill>
          <a:blip r:embed="rId6">
            <a:alphaModFix/>
          </a:blip>
          <a:stretch>
            <a:fillRect/>
          </a:stretch>
        </p:blipFill>
        <p:spPr>
          <a:xfrm>
            <a:off x="5922750" y="2507919"/>
            <a:ext cx="3221250" cy="263558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id="480" name="Google Shape;480;p60" title="Simulation_Resolution_Tuned.mp4">
            <a:hlinkClick r:id="rId3"/>
          </p:cNvPr>
          <p:cNvPicPr preferRelativeResize="0"/>
          <p:nvPr/>
        </p:nvPicPr>
        <p:blipFill>
          <a:blip r:embed="rId4">
            <a:alphaModFix/>
          </a:blip>
          <a:stretch>
            <a:fillRect/>
          </a:stretch>
        </p:blipFill>
        <p:spPr>
          <a:xfrm>
            <a:off x="457200" y="0"/>
            <a:ext cx="82296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61" title="IMG_9354.mov">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62" title="IMG_9356.mov">
            <a:hlinkClick r:id="rId3"/>
          </p:cNvPr>
          <p:cNvPicPr preferRelativeResize="0"/>
          <p:nvPr/>
        </p:nvPicPr>
        <p:blipFill>
          <a:blip r:embed="rId4">
            <a:alphaModFix/>
          </a:blip>
          <a:stretch>
            <a:fillRect/>
          </a:stretch>
        </p:blipFill>
        <p:spPr>
          <a:xfrm>
            <a:off x="0" y="0"/>
            <a:ext cx="914399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1000"/>
                                        <p:tgtEl>
                                          <p:spTgt spid="4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63" title="circle_trajectory.png"/>
          <p:cNvPicPr preferRelativeResize="0"/>
          <p:nvPr/>
        </p:nvPicPr>
        <p:blipFill>
          <a:blip r:embed="rId3">
            <a:alphaModFix/>
          </a:blip>
          <a:stretch>
            <a:fillRect/>
          </a:stretch>
        </p:blipFill>
        <p:spPr>
          <a:xfrm>
            <a:off x="2000250" y="0"/>
            <a:ext cx="5143500" cy="2571750"/>
          </a:xfrm>
          <a:prstGeom prst="rect">
            <a:avLst/>
          </a:prstGeom>
          <a:noFill/>
          <a:ln>
            <a:noFill/>
          </a:ln>
        </p:spPr>
      </p:pic>
      <p:pic>
        <p:nvPicPr>
          <p:cNvPr id="496" name="Google Shape;496;p63" title="star_trajectory.png"/>
          <p:cNvPicPr preferRelativeResize="0"/>
          <p:nvPr/>
        </p:nvPicPr>
        <p:blipFill>
          <a:blip r:embed="rId4">
            <a:alphaModFix/>
          </a:blip>
          <a:stretch>
            <a:fillRect/>
          </a:stretch>
        </p:blipFill>
        <p:spPr>
          <a:xfrm>
            <a:off x="2000250" y="2571750"/>
            <a:ext cx="5143500" cy="257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Run - Star and Circle RMSE</a:t>
            </a:r>
            <a:endParaRPr/>
          </a:p>
        </p:txBody>
      </p:sp>
      <p:graphicFrame>
        <p:nvGraphicFramePr>
          <p:cNvPr id="502" name="Google Shape;502;p64"/>
          <p:cNvGraphicFramePr/>
          <p:nvPr/>
        </p:nvGraphicFramePr>
        <p:xfrm>
          <a:off x="952500" y="1809750"/>
          <a:ext cx="3000000" cy="3000000"/>
        </p:xfrm>
        <a:graphic>
          <a:graphicData uri="http://schemas.openxmlformats.org/drawingml/2006/table">
            <a:tbl>
              <a:tblPr>
                <a:noFill/>
                <a:tableStyleId>{08852D4B-515E-4A19-A4DC-E09BEA7C7F29}</a:tableStyleId>
              </a:tblPr>
              <a:tblGrid>
                <a:gridCol w="2413000"/>
                <a:gridCol w="2413000"/>
                <a:gridCol w="2413000"/>
              </a:tblGrid>
              <a:tr h="381000">
                <a:tc>
                  <a:txBody>
                    <a:bodyPr/>
                    <a:lstStyle/>
                    <a:p>
                      <a:pPr indent="0" lvl="0" marL="0" rtl="0" algn="l">
                        <a:spcBef>
                          <a:spcPts val="0"/>
                        </a:spcBef>
                        <a:spcAft>
                          <a:spcPts val="0"/>
                        </a:spcAft>
                        <a:buNone/>
                      </a:pPr>
                      <a:r>
                        <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Circle</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Star</a:t>
                      </a:r>
                      <a:endParaRPr sz="20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lang="en" sz="2000">
                          <a:latin typeface="Montserrat"/>
                          <a:ea typeface="Montserrat"/>
                          <a:cs typeface="Montserrat"/>
                          <a:sym typeface="Montserrat"/>
                        </a:rPr>
                        <a:t>XYZ</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10.0719 mm</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15.0748 mm</a:t>
                      </a:r>
                      <a:endParaRPr sz="20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lang="en" sz="2000">
                          <a:latin typeface="Montserrat"/>
                          <a:ea typeface="Montserrat"/>
                          <a:cs typeface="Montserrat"/>
                          <a:sym typeface="Montserrat"/>
                        </a:rPr>
                        <a:t>XY</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10.0000 mm</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15.0000 mm</a:t>
                      </a:r>
                      <a:endParaRPr sz="20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lang="en" sz="2000">
                          <a:latin typeface="Montserrat"/>
                          <a:ea typeface="Montserrat"/>
                          <a:cs typeface="Montserrat"/>
                          <a:sym typeface="Montserrat"/>
                        </a:rPr>
                        <a:t>Z</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1.2000</a:t>
                      </a:r>
                      <a:r>
                        <a:rPr lang="en" sz="2000">
                          <a:latin typeface="Montserrat"/>
                          <a:ea typeface="Montserrat"/>
                          <a:cs typeface="Montserrat"/>
                          <a:sym typeface="Montserrat"/>
                        </a:rPr>
                        <a:t> mm</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1.5000</a:t>
                      </a:r>
                      <a:r>
                        <a:rPr lang="en" sz="2000">
                          <a:latin typeface="Montserrat"/>
                          <a:ea typeface="Montserrat"/>
                          <a:cs typeface="Montserrat"/>
                          <a:sym typeface="Montserrat"/>
                        </a:rPr>
                        <a:t> mm</a:t>
                      </a:r>
                      <a:endParaRPr sz="20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p65" title="Robotic Locomotion video - SD 480p.mov">
            <a:hlinkClick r:id="rId3"/>
          </p:cNvPr>
          <p:cNvPicPr preferRelativeResize="0"/>
          <p:nvPr/>
        </p:nvPicPr>
        <p:blipFill>
          <a:blip r:embed="rId4">
            <a:alphaModFix/>
          </a:blip>
          <a:stretch>
            <a:fillRect/>
          </a:stretch>
        </p:blipFill>
        <p:spPr>
          <a:xfrm>
            <a:off x="0" y="66675"/>
            <a:ext cx="8946626" cy="5032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id="512" name="Google Shape;512;p66" title="IMG_3416_2.jpg"/>
          <p:cNvPicPr preferRelativeResize="0"/>
          <p:nvPr/>
        </p:nvPicPr>
        <p:blipFill>
          <a:blip r:embed="rId3">
            <a:alphaModFix/>
          </a:blip>
          <a:stretch>
            <a:fillRect/>
          </a:stretch>
        </p:blipFill>
        <p:spPr>
          <a:xfrm>
            <a:off x="2757488" y="152400"/>
            <a:ext cx="3629027" cy="483870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p67" title="Screenshot 2026-05-04 at 12.19.19 AM.png"/>
          <p:cNvPicPr preferRelativeResize="0"/>
          <p:nvPr/>
        </p:nvPicPr>
        <p:blipFill>
          <a:blip r:embed="rId3">
            <a:alphaModFix/>
          </a:blip>
          <a:stretch>
            <a:fillRect/>
          </a:stretch>
        </p:blipFill>
        <p:spPr>
          <a:xfrm>
            <a:off x="2027775" y="497675"/>
            <a:ext cx="5088451" cy="2074074"/>
          </a:xfrm>
          <a:prstGeom prst="rect">
            <a:avLst/>
          </a:prstGeom>
          <a:noFill/>
          <a:ln>
            <a:noFill/>
          </a:ln>
        </p:spPr>
      </p:pic>
      <p:pic>
        <p:nvPicPr>
          <p:cNvPr id="518" name="Google Shape;518;p67" title="Screenshot 2026-05-04 at 12.19.48 AM.png"/>
          <p:cNvPicPr preferRelativeResize="0"/>
          <p:nvPr/>
        </p:nvPicPr>
        <p:blipFill>
          <a:blip r:embed="rId4">
            <a:alphaModFix/>
          </a:blip>
          <a:stretch>
            <a:fillRect/>
          </a:stretch>
        </p:blipFill>
        <p:spPr>
          <a:xfrm>
            <a:off x="2027775" y="2690175"/>
            <a:ext cx="5088451" cy="20685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 Run - Star and Circle RMSE</a:t>
            </a:r>
            <a:endParaRPr/>
          </a:p>
        </p:txBody>
      </p:sp>
      <p:graphicFrame>
        <p:nvGraphicFramePr>
          <p:cNvPr id="524" name="Google Shape;524;p68"/>
          <p:cNvGraphicFramePr/>
          <p:nvPr/>
        </p:nvGraphicFramePr>
        <p:xfrm>
          <a:off x="952500" y="1809750"/>
          <a:ext cx="3000000" cy="3000000"/>
        </p:xfrm>
        <a:graphic>
          <a:graphicData uri="http://schemas.openxmlformats.org/drawingml/2006/table">
            <a:tbl>
              <a:tblPr>
                <a:noFill/>
                <a:tableStyleId>{08852D4B-515E-4A19-A4DC-E09BEA7C7F29}</a:tableStyleId>
              </a:tblPr>
              <a:tblGrid>
                <a:gridCol w="2413000"/>
                <a:gridCol w="2413000"/>
                <a:gridCol w="2413000"/>
              </a:tblGrid>
              <a:tr h="381000">
                <a:tc>
                  <a:txBody>
                    <a:bodyPr/>
                    <a:lstStyle/>
                    <a:p>
                      <a:pPr indent="0" lvl="0" marL="0" rtl="0" algn="l">
                        <a:spcBef>
                          <a:spcPts val="0"/>
                        </a:spcBef>
                        <a:spcAft>
                          <a:spcPts val="0"/>
                        </a:spcAft>
                        <a:buNone/>
                      </a:pPr>
                      <a:r>
                        <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Circle</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Star</a:t>
                      </a:r>
                      <a:endParaRPr sz="20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lang="en" sz="2000">
                          <a:latin typeface="Montserrat"/>
                          <a:ea typeface="Montserrat"/>
                          <a:cs typeface="Montserrat"/>
                          <a:sym typeface="Montserrat"/>
                        </a:rPr>
                        <a:t>XYZ</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16.3896 mm</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16.2100 mm</a:t>
                      </a:r>
                      <a:endParaRPr sz="20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lang="en" sz="2000">
                          <a:latin typeface="Montserrat"/>
                          <a:ea typeface="Montserrat"/>
                          <a:cs typeface="Montserrat"/>
                          <a:sym typeface="Montserrat"/>
                        </a:rPr>
                        <a:t>XY</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16.1934 mm</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15.9642 mm</a:t>
                      </a:r>
                      <a:endParaRPr sz="20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lang="en" sz="2000">
                          <a:latin typeface="Montserrat"/>
                          <a:ea typeface="Montserrat"/>
                          <a:cs typeface="Montserrat"/>
                          <a:sym typeface="Montserrat"/>
                        </a:rPr>
                        <a:t>Z</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2.5283 mm</a:t>
                      </a:r>
                      <a:endParaRPr sz="2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2000">
                          <a:latin typeface="Montserrat"/>
                          <a:ea typeface="Montserrat"/>
                          <a:cs typeface="Montserrat"/>
                          <a:sym typeface="Montserrat"/>
                        </a:rPr>
                        <a:t>2.8121 mm</a:t>
                      </a:r>
                      <a:endParaRPr sz="20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530" name="Google Shape;530;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1200"/>
              </a:spcBef>
              <a:spcAft>
                <a:spcPts val="0"/>
              </a:spcAft>
              <a:buClr>
                <a:schemeClr val="hlink"/>
              </a:buClr>
              <a:buSzPts val="1100"/>
              <a:buFont typeface="Arial"/>
              <a:buChar char="●"/>
            </a:pPr>
            <a:r>
              <a:rPr lang="en" sz="1400"/>
              <a:t>Actual trajectories </a:t>
            </a:r>
            <a:r>
              <a:rPr b="1" lang="en" sz="1400"/>
              <a:t>closely follow desired paths</a:t>
            </a:r>
            <a:r>
              <a:rPr lang="en" sz="1400"/>
              <a:t> in simulation (RMSE ~ 0)</a:t>
            </a:r>
            <a:endParaRPr sz="1400"/>
          </a:p>
          <a:p>
            <a:pPr indent="-317500" lvl="0" marL="457200" rtl="0" algn="l">
              <a:spcBef>
                <a:spcPts val="0"/>
              </a:spcBef>
              <a:spcAft>
                <a:spcPts val="0"/>
              </a:spcAft>
              <a:buClr>
                <a:schemeClr val="hlink"/>
              </a:buClr>
              <a:buSzPts val="1400"/>
              <a:buFont typeface="Arial"/>
              <a:buChar char="●"/>
            </a:pPr>
            <a:r>
              <a:rPr lang="en" sz="1400"/>
              <a:t>There is a noticeable </a:t>
            </a:r>
            <a:r>
              <a:rPr b="1" lang="en" sz="1400"/>
              <a:t>sim-to-real gap</a:t>
            </a:r>
            <a:r>
              <a:rPr lang="en" sz="1400"/>
              <a:t> when </a:t>
            </a:r>
            <a:r>
              <a:rPr lang="en" sz="1400"/>
              <a:t>considering hardware deployment</a:t>
            </a:r>
            <a:endParaRPr sz="1400"/>
          </a:p>
          <a:p>
            <a:pPr indent="-317500" lvl="0" marL="457200" rtl="0" algn="l">
              <a:spcBef>
                <a:spcPts val="0"/>
              </a:spcBef>
              <a:spcAft>
                <a:spcPts val="0"/>
              </a:spcAft>
              <a:buClr>
                <a:schemeClr val="hlink"/>
              </a:buClr>
              <a:buSzPts val="1400"/>
              <a:buFont typeface="Arial"/>
              <a:buChar char="●"/>
            </a:pPr>
            <a:r>
              <a:rPr lang="en" sz="1400"/>
              <a:t>Dry run (no drawing): </a:t>
            </a:r>
            <a:endParaRPr sz="1400"/>
          </a:p>
          <a:p>
            <a:pPr indent="-317500" lvl="1" marL="914400" rtl="0" algn="l">
              <a:spcBef>
                <a:spcPts val="0"/>
              </a:spcBef>
              <a:spcAft>
                <a:spcPts val="0"/>
              </a:spcAft>
              <a:buClr>
                <a:schemeClr val="hlink"/>
              </a:buClr>
              <a:buSzPts val="1400"/>
              <a:buFont typeface="Arial"/>
              <a:buAutoNum type="alphaLcPeriod"/>
            </a:pPr>
            <a:r>
              <a:rPr b="1" lang="en" sz="1400"/>
              <a:t>Circle</a:t>
            </a:r>
            <a:r>
              <a:rPr lang="en" sz="1400"/>
              <a:t> XYZ </a:t>
            </a:r>
            <a:r>
              <a:rPr b="1" lang="en" sz="1400"/>
              <a:t>RMSE</a:t>
            </a:r>
            <a:r>
              <a:rPr lang="en" sz="1400"/>
              <a:t> = </a:t>
            </a:r>
            <a:r>
              <a:rPr b="1" lang="en" sz="1400"/>
              <a:t>10.0719mm</a:t>
            </a:r>
            <a:endParaRPr b="1" sz="1400"/>
          </a:p>
          <a:p>
            <a:pPr indent="-317500" lvl="1" marL="914400" rtl="0" algn="l">
              <a:spcBef>
                <a:spcPts val="0"/>
              </a:spcBef>
              <a:spcAft>
                <a:spcPts val="0"/>
              </a:spcAft>
              <a:buClr>
                <a:schemeClr val="hlink"/>
              </a:buClr>
              <a:buSzPts val="1400"/>
              <a:buFont typeface="Arial"/>
              <a:buAutoNum type="alphaLcPeriod"/>
            </a:pPr>
            <a:r>
              <a:rPr b="1" lang="en" sz="1400"/>
              <a:t>Star</a:t>
            </a:r>
            <a:r>
              <a:rPr lang="en" sz="1400"/>
              <a:t> XYZ </a:t>
            </a:r>
            <a:r>
              <a:rPr b="1" lang="en" sz="1400"/>
              <a:t>RMSE</a:t>
            </a:r>
            <a:r>
              <a:rPr lang="en" sz="1400"/>
              <a:t> =</a:t>
            </a:r>
            <a:r>
              <a:rPr b="1" lang="en" sz="1400"/>
              <a:t> 15.0748mm</a:t>
            </a:r>
            <a:endParaRPr b="1" sz="1400"/>
          </a:p>
          <a:p>
            <a:pPr indent="-317500" lvl="0" marL="457200" rtl="0" algn="l">
              <a:spcBef>
                <a:spcPts val="0"/>
              </a:spcBef>
              <a:spcAft>
                <a:spcPts val="0"/>
              </a:spcAft>
              <a:buClr>
                <a:schemeClr val="hlink"/>
              </a:buClr>
              <a:buSzPts val="1400"/>
              <a:buFont typeface="Arial"/>
              <a:buChar char="●"/>
            </a:pPr>
            <a:r>
              <a:rPr lang="en" sz="1400"/>
              <a:t>Complete run (drawing):</a:t>
            </a:r>
            <a:endParaRPr sz="1400"/>
          </a:p>
          <a:p>
            <a:pPr indent="-317500" lvl="1" marL="914400" rtl="0" algn="l">
              <a:spcBef>
                <a:spcPts val="0"/>
              </a:spcBef>
              <a:spcAft>
                <a:spcPts val="0"/>
              </a:spcAft>
              <a:buClr>
                <a:schemeClr val="hlink"/>
              </a:buClr>
              <a:buSzPts val="1400"/>
              <a:buFont typeface="Arial"/>
              <a:buAutoNum type="alphaLcPeriod"/>
            </a:pPr>
            <a:r>
              <a:rPr b="1" lang="en" sz="1400"/>
              <a:t>Circle</a:t>
            </a:r>
            <a:r>
              <a:rPr lang="en" sz="1400"/>
              <a:t> XYZ </a:t>
            </a:r>
            <a:r>
              <a:rPr b="1" lang="en" sz="1400"/>
              <a:t>RMSE</a:t>
            </a:r>
            <a:r>
              <a:rPr lang="en" sz="1400"/>
              <a:t> =</a:t>
            </a:r>
            <a:r>
              <a:rPr b="1" lang="en" sz="1400"/>
              <a:t> 16.3896mm</a:t>
            </a:r>
            <a:endParaRPr b="1" sz="1400"/>
          </a:p>
          <a:p>
            <a:pPr indent="-317500" lvl="1" marL="914400" rtl="0" algn="l">
              <a:spcBef>
                <a:spcPts val="0"/>
              </a:spcBef>
              <a:spcAft>
                <a:spcPts val="0"/>
              </a:spcAft>
              <a:buClr>
                <a:schemeClr val="hlink"/>
              </a:buClr>
              <a:buSzPts val="1400"/>
              <a:buFont typeface="Arial"/>
              <a:buAutoNum type="alphaLcPeriod"/>
            </a:pPr>
            <a:r>
              <a:rPr b="1" lang="en" sz="1400"/>
              <a:t>Star</a:t>
            </a:r>
            <a:r>
              <a:rPr lang="en" sz="1400"/>
              <a:t> XYZ </a:t>
            </a:r>
            <a:r>
              <a:rPr b="1" lang="en" sz="1400"/>
              <a:t>RMSE</a:t>
            </a:r>
            <a:r>
              <a:rPr lang="en" sz="1400"/>
              <a:t> = </a:t>
            </a:r>
            <a:r>
              <a:rPr b="1" lang="en" sz="1400"/>
              <a:t>16.2100mm</a:t>
            </a:r>
            <a:endParaRPr b="1" sz="1400"/>
          </a:p>
          <a:p>
            <a:pPr indent="-317500" lvl="0" marL="457200" rtl="0" algn="l">
              <a:spcBef>
                <a:spcPts val="0"/>
              </a:spcBef>
              <a:spcAft>
                <a:spcPts val="0"/>
              </a:spcAft>
              <a:buClr>
                <a:schemeClr val="hlink"/>
              </a:buClr>
              <a:buSzPts val="1400"/>
              <a:buFont typeface="Arial"/>
              <a:buChar char="●"/>
            </a:pPr>
            <a:r>
              <a:rPr lang="en" sz="1400"/>
              <a:t>We believe the </a:t>
            </a:r>
            <a:r>
              <a:rPr b="1" lang="en" sz="1400"/>
              <a:t>spike in error</a:t>
            </a:r>
            <a:r>
              <a:rPr lang="en" sz="1400"/>
              <a:t> is due to the </a:t>
            </a:r>
            <a:r>
              <a:rPr b="1" lang="en" sz="1400"/>
              <a:t>controller</a:t>
            </a:r>
            <a:r>
              <a:rPr lang="en" sz="1400"/>
              <a:t> being </a:t>
            </a:r>
            <a:r>
              <a:rPr b="1" lang="en" sz="1400"/>
              <a:t>unable to account </a:t>
            </a:r>
            <a:r>
              <a:rPr lang="en" sz="1400"/>
              <a:t>for the </a:t>
            </a:r>
            <a:r>
              <a:rPr b="1" lang="en" sz="1400"/>
              <a:t>feedback</a:t>
            </a:r>
            <a:r>
              <a:rPr lang="en" sz="1400"/>
              <a:t> from the </a:t>
            </a:r>
            <a:r>
              <a:rPr b="1" lang="en" sz="1400"/>
              <a:t>marker/whiteboard interaction</a:t>
            </a:r>
            <a:endParaRPr b="1" sz="1400"/>
          </a:p>
          <a:p>
            <a:pPr indent="-298450" lvl="0" marL="457200" rtl="0" algn="l">
              <a:spcBef>
                <a:spcPts val="0"/>
              </a:spcBef>
              <a:spcAft>
                <a:spcPts val="0"/>
              </a:spcAft>
              <a:buClr>
                <a:schemeClr val="hlink"/>
              </a:buClr>
              <a:buSzPts val="1100"/>
              <a:buFont typeface="Arial"/>
              <a:buChar char="●"/>
            </a:pPr>
            <a:r>
              <a:rPr lang="en" sz="1400"/>
              <a:t>Controller </a:t>
            </a:r>
            <a:r>
              <a:rPr b="1" lang="en" sz="1400"/>
              <a:t>somewhat</a:t>
            </a:r>
            <a:r>
              <a:rPr lang="en" sz="1400"/>
              <a:t> </a:t>
            </a:r>
            <a:r>
              <a:rPr lang="en" sz="1400"/>
              <a:t>handles two structurally different trajectory types </a:t>
            </a:r>
            <a:endParaRPr sz="1400"/>
          </a:p>
          <a:p>
            <a:pPr indent="-298450" lvl="1" marL="914400" rtl="0" algn="l">
              <a:spcBef>
                <a:spcPts val="0"/>
              </a:spcBef>
              <a:spcAft>
                <a:spcPts val="0"/>
              </a:spcAft>
              <a:buClr>
                <a:schemeClr val="hlink"/>
              </a:buClr>
              <a:buSzPts val="1100"/>
              <a:buFont typeface="Arial"/>
              <a:buAutoNum type="alphaLcPeriod"/>
            </a:pPr>
            <a:r>
              <a:rPr lang="en" sz="1400"/>
              <a:t>shows some generality</a:t>
            </a:r>
            <a:endParaRPr b="1"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6" name="Google Shape;536;p70"/>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ROB-UY 2004</a:t>
            </a:r>
            <a:endParaRPr/>
          </a:p>
        </p:txBody>
      </p:sp>
      <p:sp>
        <p:nvSpPr>
          <p:cNvPr id="537" name="Google Shape;537;p70"/>
          <p:cNvSpPr txBox="1"/>
          <p:nvPr/>
        </p:nvSpPr>
        <p:spPr>
          <a:xfrm>
            <a:off x="623825" y="1267175"/>
            <a:ext cx="7848600" cy="33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2"/>
              </a:solidFill>
              <a:latin typeface="DM Sans"/>
              <a:ea typeface="DM Sans"/>
              <a:cs typeface="DM Sans"/>
              <a:sym typeface="DM Sans"/>
            </a:endParaRPr>
          </a:p>
        </p:txBody>
      </p:sp>
      <p:sp>
        <p:nvSpPr>
          <p:cNvPr id="538" name="Google Shape;538;p70"/>
          <p:cNvSpPr txBox="1"/>
          <p:nvPr>
            <p:ph idx="4294967295" type="title"/>
          </p:nvPr>
        </p:nvSpPr>
        <p:spPr>
          <a:xfrm>
            <a:off x="197375" y="196725"/>
            <a:ext cx="7618800" cy="10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539" name="Google Shape;539;p70"/>
          <p:cNvSpPr txBox="1"/>
          <p:nvPr/>
        </p:nvSpPr>
        <p:spPr>
          <a:xfrm>
            <a:off x="623825" y="1267175"/>
            <a:ext cx="7848600" cy="3396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The robot is somewhat able to follow and draw target shapes using cascaded PID control. </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Simulation results are highly accurate, but real-world experiments show error due to friction and hardware limitations. </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The system works on different shapes (circle and star), showing it has the capability to generalize to different trajectories. </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Using joint measurements and kinematics is sufficient for this task, but performance could be improved with better modeling or sensing.</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Computationally solving the cascaded PID for the precise values</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Accounting for feedback from marker/whiteboard interaction</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Better motor control / state estimation</a:t>
            </a:r>
            <a:endParaRPr sz="1600">
              <a:solidFill>
                <a:schemeClr val="dk2"/>
              </a:solidFill>
              <a:latin typeface="DM Sans"/>
              <a:ea typeface="DM Sans"/>
              <a:cs typeface="DM Sans"/>
              <a:sym typeface="DM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a:p>
            <a:pPr indent="0" lvl="0" marL="0" rtl="0" algn="l">
              <a:spcBef>
                <a:spcPts val="0"/>
              </a:spcBef>
              <a:spcAft>
                <a:spcPts val="0"/>
              </a:spcAft>
              <a:buNone/>
            </a:pPr>
            <a:r>
              <a:t/>
            </a:r>
            <a:endParaRPr/>
          </a:p>
        </p:txBody>
      </p:sp>
      <p:sp>
        <p:nvSpPr>
          <p:cNvPr id="545" name="Google Shape;545;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1200"/>
              </a:spcBef>
              <a:spcAft>
                <a:spcPts val="0"/>
              </a:spcAft>
              <a:buClr>
                <a:schemeClr val="hlink"/>
              </a:buClr>
              <a:buSzPts val="1600"/>
              <a:buFont typeface="Arial"/>
              <a:buChar char="●"/>
            </a:pPr>
            <a:r>
              <a:rPr b="1" lang="en" sz="1600">
                <a:solidFill>
                  <a:schemeClr val="hlink"/>
                </a:solidFill>
                <a:latin typeface="Arial"/>
                <a:ea typeface="Arial"/>
                <a:cs typeface="Arial"/>
                <a:sym typeface="Arial"/>
              </a:rPr>
              <a:t>A. M. El-Dalatony, T. Attia, H. Ragheb, and A. M. Sharaf, "Cascaded PID Trajectory Tracking Control for Quadruped Robotic Leg," </a:t>
            </a:r>
            <a:r>
              <a:rPr b="1" i="1" lang="en" sz="1600">
                <a:solidFill>
                  <a:schemeClr val="hlink"/>
                </a:solidFill>
                <a:latin typeface="Arial"/>
                <a:ea typeface="Arial"/>
                <a:cs typeface="Arial"/>
                <a:sym typeface="Arial"/>
              </a:rPr>
              <a:t>International Journal of Mechanical Engineering and Robotics Research</a:t>
            </a:r>
            <a:r>
              <a:rPr b="1" lang="en" sz="1600">
                <a:solidFill>
                  <a:schemeClr val="hlink"/>
                </a:solidFill>
                <a:latin typeface="Arial"/>
                <a:ea typeface="Arial"/>
                <a:cs typeface="Arial"/>
                <a:sym typeface="Arial"/>
              </a:rPr>
              <a:t>, vol. 12, no. 1, pp. 40-47, Jan. 2023.</a:t>
            </a:r>
            <a:endParaRPr b="1" sz="1600">
              <a:solidFill>
                <a:schemeClr val="hlink"/>
              </a:solidFill>
              <a:latin typeface="Arial"/>
              <a:ea typeface="Arial"/>
              <a:cs typeface="Arial"/>
              <a:sym typeface="Arial"/>
            </a:endParaRPr>
          </a:p>
          <a:p>
            <a:pPr indent="-330200" lvl="0" marL="457200" rtl="0" algn="l">
              <a:spcBef>
                <a:spcPts val="0"/>
              </a:spcBef>
              <a:spcAft>
                <a:spcPts val="0"/>
              </a:spcAft>
              <a:buClr>
                <a:schemeClr val="hlink"/>
              </a:buClr>
              <a:buSzPts val="1600"/>
              <a:buFont typeface="Arial"/>
              <a:buChar char="●"/>
            </a:pPr>
            <a:r>
              <a:rPr b="1" lang="en" sz="1600">
                <a:solidFill>
                  <a:schemeClr val="hlink"/>
                </a:solidFill>
                <a:latin typeface="Arial"/>
                <a:ea typeface="Arial"/>
                <a:cs typeface="Arial"/>
                <a:sym typeface="Arial"/>
              </a:rPr>
              <a:t>M. A. Sen, V. Bakircioglu, and M. Kalyoncu, "Inverse Kinematic Analysis Of A Quadruped Robot," </a:t>
            </a:r>
            <a:r>
              <a:rPr b="1" i="1" lang="en" sz="1600">
                <a:solidFill>
                  <a:schemeClr val="hlink"/>
                </a:solidFill>
                <a:latin typeface="Arial"/>
                <a:ea typeface="Arial"/>
                <a:cs typeface="Arial"/>
                <a:sym typeface="Arial"/>
              </a:rPr>
              <a:t>International Journal of Scientific &amp; Technology Research</a:t>
            </a:r>
            <a:r>
              <a:rPr b="1" lang="en" sz="1600">
                <a:solidFill>
                  <a:schemeClr val="hlink"/>
                </a:solidFill>
                <a:latin typeface="Arial"/>
                <a:ea typeface="Arial"/>
                <a:cs typeface="Arial"/>
                <a:sym typeface="Arial"/>
              </a:rPr>
              <a:t>, vol. 6, no. 9, pp. 285-289, Sep. 2017.</a:t>
            </a:r>
            <a:endParaRPr b="1" sz="1600">
              <a:solidFill>
                <a:schemeClr val="hlink"/>
              </a:solidFill>
              <a:latin typeface="Arial"/>
              <a:ea typeface="Arial"/>
              <a:cs typeface="Arial"/>
              <a:sym typeface="Arial"/>
            </a:endParaRPr>
          </a:p>
          <a:p>
            <a:pPr indent="0" lvl="0" marL="0" rtl="0" algn="l">
              <a:spcBef>
                <a:spcPts val="1200"/>
              </a:spcBef>
              <a:spcAft>
                <a:spcPts val="120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